
<file path=[Content_Types].xml><?xml version="1.0" encoding="utf-8"?>
<Types xmlns="http://schemas.openxmlformats.org/package/2006/content-types">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9"/>
  </p:notesMasterIdLst>
  <p:sldIdLst>
    <p:sldId id="257" r:id="rId2"/>
    <p:sldId id="258" r:id="rId3"/>
    <p:sldId id="293" r:id="rId4"/>
    <p:sldId id="260" r:id="rId5"/>
    <p:sldId id="261" r:id="rId6"/>
    <p:sldId id="289" r:id="rId7"/>
    <p:sldId id="262" r:id="rId8"/>
    <p:sldId id="263" r:id="rId9"/>
    <p:sldId id="264" r:id="rId10"/>
    <p:sldId id="266" r:id="rId11"/>
    <p:sldId id="267" r:id="rId12"/>
    <p:sldId id="265" r:id="rId13"/>
    <p:sldId id="269" r:id="rId14"/>
    <p:sldId id="270" r:id="rId15"/>
    <p:sldId id="287" r:id="rId16"/>
    <p:sldId id="271" r:id="rId17"/>
    <p:sldId id="272" r:id="rId18"/>
    <p:sldId id="286" r:id="rId19"/>
    <p:sldId id="274" r:id="rId20"/>
    <p:sldId id="291" r:id="rId21"/>
    <p:sldId id="280" r:id="rId22"/>
    <p:sldId id="281" r:id="rId23"/>
    <p:sldId id="282" r:id="rId24"/>
    <p:sldId id="278" r:id="rId25"/>
    <p:sldId id="295" r:id="rId26"/>
    <p:sldId id="294" r:id="rId27"/>
    <p:sldId id="284" r:id="rId2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990000"/>
    <a:srgbClr val="000066"/>
    <a:srgbClr val="660066"/>
    <a:srgbClr val="4F3D67"/>
    <a:srgbClr val="3D2F4F"/>
    <a:srgbClr val="413254"/>
    <a:srgbClr val="000099"/>
    <a:srgbClr val="C3CBC3"/>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87" autoAdjust="0"/>
  </p:normalViewPr>
  <p:slideViewPr>
    <p:cSldViewPr>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17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87A6E9B-AEFB-4C2D-AE79-74590CF25B53}"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7DC03E59-BCBD-4B86-99F7-A24AF9AD476B}" type="slidenum">
              <a:rPr lang="en-US" smtClean="0"/>
              <a:pPr/>
              <a:t>1</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AF5EE480-B537-4154-8C78-74AD891991F4}" type="slidenum">
              <a:rPr lang="en-US" smtClean="0"/>
              <a:pPr/>
              <a:t>2</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B03B9BB6-2165-4035-B48C-11A065A2052D}" type="slidenum">
              <a:rPr lang="en-US" smtClean="0"/>
              <a:pPr/>
              <a:t>4</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178D921B-01D0-4491-81DE-D91B1676079D}" type="slidenum">
              <a:rPr lang="en-US" smtClean="0"/>
              <a:pPr/>
              <a:t>5</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F6C8EFFC-1F9E-462E-88D7-3CCD7010DDFF}" type="slidenum">
              <a:rPr lang="en-US" smtClean="0"/>
              <a:pPr/>
              <a:t>7</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9110A5E5-89FB-4993-95BE-562DDDC01BB2}" type="slidenum">
              <a:rPr lang="en-US" smtClean="0"/>
              <a:pPr/>
              <a:t>8</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51ECECBC-3AF6-4B44-B17F-33A3D8FE4A14}" type="slidenum">
              <a:rPr lang="en-US" smtClean="0"/>
              <a:pPr/>
              <a:t>9</a:t>
            </a:fld>
            <a:endParaRPr 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69B9ED09-83C5-4F79-B574-A116D31F3AA8}" type="slidenum">
              <a:rPr lang="en-US" smtClean="0"/>
              <a:pPr/>
              <a:t>10</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xfrm>
            <a:off x="914400" y="4341813"/>
            <a:ext cx="5029200" cy="4116387"/>
          </a:xfrm>
          <a:noFill/>
          <a:ln/>
        </p:spPr>
        <p:txBody>
          <a:bodyPr/>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42051634-B6A3-44AA-8A5F-BA14D45ED032}" type="slidenum">
              <a:rPr lang="en-US" smtClean="0"/>
              <a:pPr/>
              <a:t>11</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715F60BD-53E0-4573-8E1A-0F88DDD13D12}" type="slidenum">
              <a:rPr lang="en-US" smtClean="0"/>
              <a:pPr/>
              <a:t>12</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D233A131-750F-4288-83C5-B946423A203E}" type="slidenum">
              <a:rPr lang="en-US" smtClean="0"/>
              <a:pPr/>
              <a:t>13</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CFE0E2FC-C30A-47A1-AA83-F3693C3A77AB}" type="slidenum">
              <a:rPr lang="en-US" smtClean="0"/>
              <a:pPr/>
              <a:t>14</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endParaRPr lang="en-PH"/>
          </a:p>
        </p:txBody>
      </p:sp>
      <p:sp>
        <p:nvSpPr>
          <p:cNvPr id="45060" name="Slide Number Placeholder 3"/>
          <p:cNvSpPr>
            <a:spLocks noGrp="1"/>
          </p:cNvSpPr>
          <p:nvPr>
            <p:ph type="sldNum" sz="quarter" idx="5"/>
          </p:nvPr>
        </p:nvSpPr>
        <p:spPr>
          <a:noFill/>
        </p:spPr>
        <p:txBody>
          <a:bodyPr/>
          <a:lstStyle/>
          <a:p>
            <a:fld id="{4A47FC7C-D664-410E-A20E-485FBC023BDD}"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7BD9CB20-40CB-42A1-B081-73554268ADF9}" type="slidenum">
              <a:rPr lang="en-US" smtClean="0"/>
              <a:pPr/>
              <a:t>16</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xfrm>
            <a:off x="914400" y="4341813"/>
            <a:ext cx="5029200" cy="4116387"/>
          </a:xfrm>
          <a:noFill/>
          <a:ln/>
        </p:spPr>
        <p:txBody>
          <a:bodyPr/>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C58ACB79-868F-4997-A5D8-320A9B2CF2D8}" type="slidenum">
              <a:rPr lang="en-US" smtClean="0"/>
              <a:pPr/>
              <a:t>17</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03F96E10-3599-479E-B780-555D0BFDC2DB}" type="slidenum">
              <a:rPr lang="en-US" smtClean="0"/>
              <a:pPr/>
              <a:t>18</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xfrm>
            <a:off x="914400" y="4341813"/>
            <a:ext cx="5029200" cy="4116387"/>
          </a:xfrm>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8511F941-F59A-4C2E-A1C5-0FD0518B7AAA}" type="slidenum">
              <a:rPr lang="en-US" smtClean="0"/>
              <a:pPr/>
              <a:t>19</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C22D5E40-188F-4673-89C0-E3E46C376F7E}" type="slidenum">
              <a:rPr lang="en-US" smtClean="0"/>
              <a:pPr/>
              <a:t>21</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E5FA0AFF-9B59-449B-9FFD-0281265D1BB5}" type="slidenum">
              <a:rPr lang="en-US" smtClean="0"/>
              <a:pPr/>
              <a:t>22</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A8D4F656-9A9F-4604-9983-36900E4E53D5}" type="slidenum">
              <a:rPr lang="en-US" smtClean="0"/>
              <a:pPr/>
              <a:t>23</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3F01C525-5F0E-4083-B69F-C3910BF751E1}" type="slidenum">
              <a:rPr lang="en-US" smtClean="0"/>
              <a:pPr/>
              <a:t>24</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CCBF-06C5-71A1-01AF-95F2D94E1A17}"/>
            </a:ext>
          </a:extLst>
        </p:cNvPr>
        <p:cNvGrpSpPr/>
        <p:nvPr/>
      </p:nvGrpSpPr>
      <p:grpSpPr>
        <a:xfrm>
          <a:off x="0" y="0"/>
          <a:ext cx="0" cy="0"/>
          <a:chOff x="0" y="0"/>
          <a:chExt cx="0" cy="0"/>
        </a:xfrm>
      </p:grpSpPr>
      <p:sp>
        <p:nvSpPr>
          <p:cNvPr id="52226" name="Rectangle 7">
            <a:extLst>
              <a:ext uri="{FF2B5EF4-FFF2-40B4-BE49-F238E27FC236}">
                <a16:creationId xmlns:a16="http://schemas.microsoft.com/office/drawing/2014/main" id="{5291176E-7C55-339A-0D33-1650FCDA59AB}"/>
              </a:ext>
            </a:extLst>
          </p:cNvPr>
          <p:cNvSpPr>
            <a:spLocks noGrp="1" noChangeArrowheads="1"/>
          </p:cNvSpPr>
          <p:nvPr>
            <p:ph type="sldNum" sz="quarter" idx="5"/>
          </p:nvPr>
        </p:nvSpPr>
        <p:spPr>
          <a:noFill/>
        </p:spPr>
        <p:txBody>
          <a:bodyPr/>
          <a:lstStyle/>
          <a:p>
            <a:fld id="{3F01C525-5F0E-4083-B69F-C3910BF751E1}" type="slidenum">
              <a:rPr lang="en-US" smtClean="0"/>
              <a:pPr/>
              <a:t>25</a:t>
            </a:fld>
            <a:endParaRPr lang="en-US"/>
          </a:p>
        </p:txBody>
      </p:sp>
      <p:sp>
        <p:nvSpPr>
          <p:cNvPr id="52227" name="Rectangle 2">
            <a:extLst>
              <a:ext uri="{FF2B5EF4-FFF2-40B4-BE49-F238E27FC236}">
                <a16:creationId xmlns:a16="http://schemas.microsoft.com/office/drawing/2014/main" id="{DEB072FC-036B-F359-7843-8771568CCA14}"/>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E07311AE-894E-3EA3-1E71-791C7660F8A3}"/>
              </a:ext>
            </a:extLst>
          </p:cNvPr>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extLst>
      <p:ext uri="{BB962C8B-B14F-4D97-AF65-F5344CB8AC3E}">
        <p14:creationId xmlns:p14="http://schemas.microsoft.com/office/powerpoint/2010/main" val="3035758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FAA7D-163C-BF64-F14C-4B22CF056646}"/>
            </a:ext>
          </a:extLst>
        </p:cNvPr>
        <p:cNvGrpSpPr/>
        <p:nvPr/>
      </p:nvGrpSpPr>
      <p:grpSpPr>
        <a:xfrm>
          <a:off x="0" y="0"/>
          <a:ext cx="0" cy="0"/>
          <a:chOff x="0" y="0"/>
          <a:chExt cx="0" cy="0"/>
        </a:xfrm>
      </p:grpSpPr>
      <p:sp>
        <p:nvSpPr>
          <p:cNvPr id="52226" name="Rectangle 7">
            <a:extLst>
              <a:ext uri="{FF2B5EF4-FFF2-40B4-BE49-F238E27FC236}">
                <a16:creationId xmlns:a16="http://schemas.microsoft.com/office/drawing/2014/main" id="{BB9B800D-960D-E0C0-874F-BF844ACC9526}"/>
              </a:ext>
            </a:extLst>
          </p:cNvPr>
          <p:cNvSpPr>
            <a:spLocks noGrp="1" noChangeArrowheads="1"/>
          </p:cNvSpPr>
          <p:nvPr>
            <p:ph type="sldNum" sz="quarter" idx="5"/>
          </p:nvPr>
        </p:nvSpPr>
        <p:spPr>
          <a:noFill/>
        </p:spPr>
        <p:txBody>
          <a:bodyPr/>
          <a:lstStyle/>
          <a:p>
            <a:fld id="{3F01C525-5F0E-4083-B69F-C3910BF751E1}" type="slidenum">
              <a:rPr lang="en-US" smtClean="0"/>
              <a:pPr/>
              <a:t>26</a:t>
            </a:fld>
            <a:endParaRPr lang="en-US"/>
          </a:p>
        </p:txBody>
      </p:sp>
      <p:sp>
        <p:nvSpPr>
          <p:cNvPr id="52227" name="Rectangle 2">
            <a:extLst>
              <a:ext uri="{FF2B5EF4-FFF2-40B4-BE49-F238E27FC236}">
                <a16:creationId xmlns:a16="http://schemas.microsoft.com/office/drawing/2014/main" id="{7AF8B057-2B70-91B0-9540-D6CD5FB0DF5E}"/>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8191FA81-ACC1-414C-C034-FA4FEBA37DB9}"/>
              </a:ext>
            </a:extLst>
          </p:cNvPr>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extLst>
      <p:ext uri="{BB962C8B-B14F-4D97-AF65-F5344CB8AC3E}">
        <p14:creationId xmlns:p14="http://schemas.microsoft.com/office/powerpoint/2010/main" val="2419505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AB73E58C-38E8-4CE3-92DA-945DFEBAA0EC}" type="slidenum">
              <a:rPr lang="en-US" smtClean="0"/>
              <a:pPr/>
              <a:t>27</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xfrm>
            <a:off x="914400" y="4341813"/>
            <a:ext cx="5029200" cy="4116387"/>
          </a:xfrm>
          <a:noFill/>
          <a:ln/>
        </p:spPr>
        <p:txBody>
          <a:bodyPr/>
          <a:lstStyle/>
          <a:p>
            <a:pPr eaLnBrk="1" hangingPunct="1"/>
            <a:r>
              <a:rPr lang="en-GB" b="1"/>
              <a:t>B. Retribution:  </a:t>
            </a:r>
            <a:r>
              <a:rPr lang="en-GB"/>
              <a:t>revenge, getting even</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7BEA7-1C70-469F-8D9F-52FFF5D540AF}"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993D39-F60A-4655-B55B-D4010D39FC60}"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82E2D56-0DC5-4F69-920E-F823B770DFD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2D3FB87-D00F-4B6B-BC6A-F5C1590DFBE5}"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332134B-8A0B-487F-9DE8-6BCF936D9D76}"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D2D02F16-461C-404E-AA1A-0FA248EEFBB8}"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D6BF6D77-4079-4646-9E67-C56B69D2B700}"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476F795-4F31-4F05-9165-FAC83C2A0FC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4848ECB-FD33-4590-8997-F9A05D311C86}"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3548CD3-4178-40FE-8F95-A4F8AC3EF5B7}"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001A3EA-FA40-46DE-98B3-8D0E9B802E4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2ADC972-DE88-42CC-A4AA-68E791071DE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images.google.com/imgres?imgurl=http://www.avln.org/faith/images/Repentance.jpg&amp;imgrefurl=http://www.avln.org/article.php?id%3D103&amp;h=250&amp;w=190&amp;sz=21&amp;hl=en&amp;start=2&amp;tbnid=GisIQnlHyy-jAM:&amp;tbnh=111&amp;tbnw=84&amp;prev=/images?q%3Drepentance%26ndsp%3D20%26svnum%3D10%26hl%3Den%26lr%3D%26sa%3D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5800" y="1981200"/>
            <a:ext cx="7772400" cy="2209800"/>
          </a:xfrm>
        </p:spPr>
        <p:txBody>
          <a:bodyPr rtlCol="0">
            <a:normAutofit/>
          </a:bodyPr>
          <a:lstStyle/>
          <a:p>
            <a:pPr eaLnBrk="1" fontAlgn="auto" hangingPunct="1">
              <a:spcAft>
                <a:spcPts val="0"/>
              </a:spcAft>
              <a:defRPr/>
            </a:pPr>
            <a:r>
              <a:rPr lang="en-US" sz="4800" b="1" u="sng" dirty="0">
                <a:solidFill>
                  <a:srgbClr val="000066"/>
                </a:solidFill>
                <a:effectLst>
                  <a:outerShdw blurRad="38100" dist="38100" dir="2700000" algn="tl">
                    <a:srgbClr val="C0C0C0"/>
                  </a:outerShdw>
                </a:effectLst>
                <a:latin typeface="Arial Black" pitchFamily="34" charset="0"/>
                <a:ea typeface="Tahoma" pitchFamily="34" charset="0"/>
                <a:cs typeface="Tahoma" pitchFamily="34" charset="0"/>
              </a:rPr>
              <a:t>REPENTANCE AND RESTITUTION</a:t>
            </a:r>
          </a:p>
        </p:txBody>
      </p:sp>
      <p:sp>
        <p:nvSpPr>
          <p:cNvPr id="3075" name="Rectangle 3"/>
          <p:cNvSpPr>
            <a:spLocks noGrp="1" noChangeArrowheads="1"/>
          </p:cNvSpPr>
          <p:nvPr>
            <p:ph type="subTitle" idx="1"/>
          </p:nvPr>
        </p:nvSpPr>
        <p:spPr>
          <a:xfrm>
            <a:off x="680720" y="5024120"/>
            <a:ext cx="8001000" cy="1295400"/>
          </a:xfrm>
        </p:spPr>
        <p:txBody>
          <a:bodyPr rtlCol="0">
            <a:normAutofit/>
          </a:bodyPr>
          <a:lstStyle/>
          <a:p>
            <a:pPr eaLnBrk="1" fontAlgn="auto" hangingPunct="1">
              <a:lnSpc>
                <a:spcPct val="90000"/>
              </a:lnSpc>
              <a:spcAft>
                <a:spcPts val="0"/>
              </a:spcAft>
              <a:buFont typeface="Arial" pitchFamily="34" charset="0"/>
              <a:buNone/>
              <a:defRPr/>
            </a:pPr>
            <a:r>
              <a:rPr lang="en-US" sz="3600" b="1" dirty="0">
                <a:solidFill>
                  <a:schemeClr val="tx1"/>
                </a:solidFill>
                <a:effectLst>
                  <a:outerShdw blurRad="38100" dist="38100" dir="2700000" algn="tl">
                    <a:srgbClr val="C0C0C0"/>
                  </a:outerShdw>
                </a:effectLst>
                <a:latin typeface="Arial Black" pitchFamily="34" charset="0"/>
                <a:ea typeface="Tahoma" pitchFamily="34" charset="0"/>
                <a:cs typeface="Tahoma" pitchFamily="34" charset="0"/>
              </a:rPr>
              <a:t>Prayer Healing Retreat 1</a:t>
            </a:r>
          </a:p>
          <a:p>
            <a:pPr eaLnBrk="1" fontAlgn="auto" hangingPunct="1">
              <a:lnSpc>
                <a:spcPct val="90000"/>
              </a:lnSpc>
              <a:spcAft>
                <a:spcPts val="0"/>
              </a:spcAft>
              <a:buFont typeface="Arial" pitchFamily="34" charset="0"/>
              <a:buNone/>
              <a:defRPr/>
            </a:pPr>
            <a:r>
              <a:rPr lang="en-US" sz="3600" b="1" dirty="0">
                <a:solidFill>
                  <a:schemeClr val="tx1"/>
                </a:solidFill>
                <a:effectLst>
                  <a:outerShdw blurRad="38100" dist="38100" dir="2700000" algn="tl">
                    <a:srgbClr val="C0C0C0"/>
                  </a:outerShdw>
                </a:effectLst>
                <a:latin typeface="Cambria" panose="02040503050406030204" pitchFamily="18" charset="0"/>
                <a:ea typeface="Cambria" panose="02040503050406030204" pitchFamily="18" charset="0"/>
                <a:cs typeface="Tahoma" pitchFamily="34" charset="0"/>
              </a:rPr>
              <a:t>Aimee </a:t>
            </a:r>
            <a:r>
              <a:rPr lang="en-US" sz="3600" b="1" dirty="0" err="1">
                <a:solidFill>
                  <a:schemeClr val="tx1"/>
                </a:solidFill>
                <a:effectLst>
                  <a:outerShdw blurRad="38100" dist="38100" dir="2700000" algn="tl">
                    <a:srgbClr val="C0C0C0"/>
                  </a:outerShdw>
                </a:effectLst>
                <a:latin typeface="Cambria" panose="02040503050406030204" pitchFamily="18" charset="0"/>
                <a:ea typeface="Cambria" panose="02040503050406030204" pitchFamily="18" charset="0"/>
                <a:cs typeface="Tahoma" pitchFamily="34" charset="0"/>
              </a:rPr>
              <a:t>Andolong</a:t>
            </a:r>
            <a:r>
              <a:rPr lang="en-US" sz="3600" b="1" dirty="0">
                <a:solidFill>
                  <a:schemeClr val="tx1"/>
                </a:solidFill>
                <a:effectLst>
                  <a:outerShdw blurRad="38100" dist="38100" dir="2700000" algn="tl">
                    <a:srgbClr val="C0C0C0"/>
                  </a:outerShdw>
                </a:effectLst>
                <a:latin typeface="Cambria" panose="02040503050406030204" pitchFamily="18" charset="0"/>
                <a:ea typeface="Cambria" panose="02040503050406030204" pitchFamily="18" charset="0"/>
                <a:cs typeface="Tahoma" pitchFamily="34" charset="0"/>
              </a:rPr>
              <a:t> - Pena</a:t>
            </a:r>
          </a:p>
          <a:p>
            <a:pPr eaLnBrk="1" fontAlgn="auto" hangingPunct="1">
              <a:lnSpc>
                <a:spcPct val="90000"/>
              </a:lnSpc>
              <a:spcAft>
                <a:spcPts val="0"/>
              </a:spcAft>
              <a:buFont typeface="Arial" pitchFamily="34" charset="0"/>
              <a:buNone/>
              <a:defRPr/>
            </a:pPr>
            <a:endParaRPr lang="en-US" sz="3600" b="1" dirty="0">
              <a:solidFill>
                <a:schemeClr val="tx1"/>
              </a:solidFill>
              <a:effectLst>
                <a:outerShdw blurRad="38100" dist="38100" dir="2700000" algn="tl">
                  <a:srgbClr val="C0C0C0"/>
                </a:outerShdw>
              </a:effectLst>
              <a:latin typeface="Arial Black" pitchFamily="34" charset="0"/>
            </a:endParaRPr>
          </a:p>
        </p:txBody>
      </p:sp>
      <p:pic>
        <p:nvPicPr>
          <p:cNvPr id="2052" name="Picture 4" descr="BHEADP"/>
          <p:cNvPicPr>
            <a:picLocks noChangeAspect="1" noChangeArrowheads="1"/>
          </p:cNvPicPr>
          <p:nvPr/>
        </p:nvPicPr>
        <p:blipFill>
          <a:blip r:embed="rId3" cstate="print"/>
          <a:srcRect/>
          <a:stretch>
            <a:fillRect/>
          </a:stretch>
        </p:blipFill>
        <p:spPr bwMode="auto">
          <a:xfrm>
            <a:off x="1371600" y="533400"/>
            <a:ext cx="7086600" cy="914400"/>
          </a:xfrm>
          <a:prstGeom prst="rect">
            <a:avLst/>
          </a:prstGeom>
          <a:noFill/>
          <a:ln w="9525">
            <a:noFill/>
            <a:miter lim="800000"/>
            <a:headEnd/>
            <a:tailEnd/>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28600" y="2362200"/>
            <a:ext cx="4648200" cy="2362200"/>
          </a:xfrm>
        </p:spPr>
        <p:txBody>
          <a:bodyPr rtlCol="0">
            <a:noAutofit/>
          </a:bodyPr>
          <a:lstStyle/>
          <a:p>
            <a:pPr eaLnBrk="1" fontAlgn="auto" hangingPunct="1">
              <a:spcAft>
                <a:spcPts val="0"/>
              </a:spcAft>
              <a:defRPr/>
            </a:pPr>
            <a:r>
              <a:rPr lang="en-US" b="1" u="sng" dirty="0">
                <a:solidFill>
                  <a:srgbClr val="000066"/>
                </a:solidFill>
                <a:effectLst>
                  <a:outerShdw blurRad="38100" dist="38100" dir="2700000" algn="tl">
                    <a:srgbClr val="C0C0C0"/>
                  </a:outerShdw>
                </a:effectLst>
                <a:latin typeface="Arial Black" pitchFamily="34" charset="0"/>
              </a:rPr>
              <a:t>REPENTANCE AND</a:t>
            </a:r>
            <a:br>
              <a:rPr lang="en-US" b="1" u="sng" dirty="0">
                <a:solidFill>
                  <a:srgbClr val="000066"/>
                </a:solidFill>
                <a:effectLst>
                  <a:outerShdw blurRad="38100" dist="38100" dir="2700000" algn="tl">
                    <a:srgbClr val="C0C0C0"/>
                  </a:outerShdw>
                </a:effectLst>
                <a:latin typeface="Arial Black" pitchFamily="34" charset="0"/>
              </a:rPr>
            </a:br>
            <a:r>
              <a:rPr lang="en-US" b="1" u="sng" dirty="0">
                <a:solidFill>
                  <a:srgbClr val="000066"/>
                </a:solidFill>
                <a:effectLst>
                  <a:outerShdw blurRad="38100" dist="38100" dir="2700000" algn="tl">
                    <a:srgbClr val="C0C0C0"/>
                  </a:outerShdw>
                </a:effectLst>
                <a:latin typeface="Arial Black" pitchFamily="34" charset="0"/>
              </a:rPr>
              <a:t>RESTITUTION</a:t>
            </a:r>
          </a:p>
        </p:txBody>
      </p:sp>
      <p:sp>
        <p:nvSpPr>
          <p:cNvPr id="3075" name="Rectangle 3"/>
          <p:cNvSpPr>
            <a:spLocks noGrp="1" noChangeArrowheads="1"/>
          </p:cNvSpPr>
          <p:nvPr>
            <p:ph idx="1"/>
          </p:nvPr>
        </p:nvSpPr>
        <p:spPr>
          <a:xfrm>
            <a:off x="6248400" y="1066800"/>
            <a:ext cx="1752600" cy="5334000"/>
          </a:xfrm>
        </p:spPr>
        <p:txBody>
          <a:bodyPr/>
          <a:lstStyle/>
          <a:p>
            <a:pPr eaLnBrk="1" hangingPunct="1"/>
            <a:endParaRPr lang="en-US"/>
          </a:p>
        </p:txBody>
      </p:sp>
      <p:pic>
        <p:nvPicPr>
          <p:cNvPr id="3076" name="Picture 4" descr="Repentance">
            <a:hlinkClick r:id="rId3"/>
          </p:cNvPr>
          <p:cNvPicPr>
            <a:picLocks noChangeAspect="1" noChangeArrowheads="1"/>
          </p:cNvPicPr>
          <p:nvPr/>
        </p:nvPicPr>
        <p:blipFill>
          <a:blip r:embed="rId4" cstate="print"/>
          <a:srcRect/>
          <a:stretch>
            <a:fillRect/>
          </a:stretch>
        </p:blipFill>
        <p:spPr bwMode="auto">
          <a:xfrm>
            <a:off x="4724400" y="838200"/>
            <a:ext cx="3733800" cy="5715000"/>
          </a:xfrm>
          <a:prstGeom prst="rect">
            <a:avLst/>
          </a:prstGeom>
          <a:noFill/>
          <a:ln w="9525">
            <a:noFill/>
            <a:miter lim="800000"/>
            <a:headEnd/>
            <a:tailEnd/>
          </a:ln>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51D6-420D-4F32-A2E8-C3A083A56F31}"/>
              </a:ext>
            </a:extLst>
          </p:cNvPr>
          <p:cNvSpPr>
            <a:spLocks noGrp="1"/>
          </p:cNvSpPr>
          <p:nvPr>
            <p:ph type="title"/>
          </p:nvPr>
        </p:nvSpPr>
        <p:spPr>
          <a:xfrm>
            <a:off x="266700" y="0"/>
            <a:ext cx="8610600" cy="914400"/>
          </a:xfrm>
        </p:spPr>
        <p:txBody>
          <a:bodyPr/>
          <a:lstStyle/>
          <a:p>
            <a:r>
              <a:rPr lang="en-US" sz="36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3600" dirty="0">
              <a:solidFill>
                <a:srgbClr val="7030A0"/>
              </a:solidFill>
            </a:endParaRPr>
          </a:p>
        </p:txBody>
      </p:sp>
      <p:sp>
        <p:nvSpPr>
          <p:cNvPr id="3" name="Content Placeholder 2">
            <a:extLst>
              <a:ext uri="{FF2B5EF4-FFF2-40B4-BE49-F238E27FC236}">
                <a16:creationId xmlns:a16="http://schemas.microsoft.com/office/drawing/2014/main" id="{40C371CD-44D9-41E1-B522-A1140027929A}"/>
              </a:ext>
            </a:extLst>
          </p:cNvPr>
          <p:cNvSpPr>
            <a:spLocks noGrp="1"/>
          </p:cNvSpPr>
          <p:nvPr>
            <p:ph idx="1"/>
          </p:nvPr>
        </p:nvSpPr>
        <p:spPr>
          <a:xfrm>
            <a:off x="152400" y="1371600"/>
            <a:ext cx="8839200" cy="5486400"/>
          </a:xfrm>
        </p:spPr>
        <p:txBody>
          <a:bodyPr/>
          <a:lstStyle/>
          <a:p>
            <a:pPr marL="0" indent="0">
              <a:buNone/>
            </a:pPr>
            <a:r>
              <a:rPr lang="en-US" sz="3600" b="1" dirty="0">
                <a:solidFill>
                  <a:srgbClr val="0000CC"/>
                </a:solidFill>
              </a:rPr>
              <a:t>Catechism of the Catholic Church</a:t>
            </a:r>
          </a:p>
          <a:p>
            <a:pPr>
              <a:spcBef>
                <a:spcPts val="0"/>
              </a:spcBef>
              <a:spcAft>
                <a:spcPts val="0"/>
              </a:spcAft>
              <a:buBlip>
                <a:blip r:embed="rId2"/>
              </a:buBlip>
            </a:pPr>
            <a:r>
              <a:rPr lang="en-US" sz="3600" b="1" dirty="0">
                <a:effectLst/>
                <a:latin typeface="Cambria" panose="02040503050406030204" pitchFamily="18" charset="0"/>
                <a:ea typeface="Calibri" panose="020F0502020204030204" pitchFamily="34" charset="0"/>
                <a:cs typeface="Times New Roman" panose="02020603050405020304" pitchFamily="18" charset="0"/>
              </a:rPr>
              <a:t>CCC 1442  </a:t>
            </a:r>
            <a:r>
              <a:rPr lang="en-US" sz="3600" b="1" dirty="0">
                <a:solidFill>
                  <a:srgbClr val="0000CC"/>
                </a:solidFill>
                <a:effectLst/>
                <a:latin typeface="Cambria" panose="02040503050406030204" pitchFamily="18" charset="0"/>
                <a:ea typeface="Calibri" panose="020F0502020204030204" pitchFamily="34" charset="0"/>
                <a:cs typeface="Times New Roman" panose="02020603050405020304" pitchFamily="18" charset="0"/>
              </a:rPr>
              <a:t>It is called the </a:t>
            </a:r>
            <a:r>
              <a:rPr lang="en-US" sz="3600" b="1" u="sng" dirty="0">
                <a:solidFill>
                  <a:srgbClr val="0000CC"/>
                </a:solidFill>
                <a:effectLst/>
                <a:latin typeface="Cambria" panose="02040503050406030204" pitchFamily="18" charset="0"/>
                <a:ea typeface="Calibri" panose="020F0502020204030204" pitchFamily="34" charset="0"/>
                <a:cs typeface="Times New Roman" panose="02020603050405020304" pitchFamily="18" charset="0"/>
              </a:rPr>
              <a:t>Sacrament of Reconciliation</a:t>
            </a:r>
            <a:r>
              <a:rPr lang="en-US" sz="3600" b="1" dirty="0">
                <a:solidFill>
                  <a:srgbClr val="0000CC"/>
                </a:solidFill>
                <a:effectLst/>
                <a:latin typeface="Cambria" panose="02040503050406030204" pitchFamily="18" charset="0"/>
                <a:ea typeface="Calibri" panose="020F0502020204030204" pitchFamily="34" charset="0"/>
                <a:cs typeface="Times New Roman" panose="02020603050405020304" pitchFamily="18" charset="0"/>
              </a:rPr>
              <a:t>, because it imparts to the sinner the love of God who reconciles</a:t>
            </a:r>
            <a:r>
              <a:rPr lang="en-US" sz="3600" b="1" dirty="0">
                <a:solidFill>
                  <a:srgbClr val="000099"/>
                </a:solidFill>
                <a:effectLst/>
                <a:latin typeface="Cambria" panose="02040503050406030204" pitchFamily="18" charset="0"/>
                <a:ea typeface="Calibri" panose="020F0502020204030204" pitchFamily="34" charset="0"/>
                <a:cs typeface="Times New Roman" panose="02020603050405020304" pitchFamily="18" charset="0"/>
              </a:rPr>
              <a:t>:  </a:t>
            </a:r>
            <a:r>
              <a:rPr lang="en-US" sz="3600" b="1" dirty="0">
                <a:solidFill>
                  <a:srgbClr val="990000"/>
                </a:solidFill>
                <a:effectLst/>
                <a:latin typeface="Cambria" panose="02040503050406030204" pitchFamily="18" charset="0"/>
                <a:ea typeface="Calibri" panose="020F0502020204030204" pitchFamily="34" charset="0"/>
                <a:cs typeface="Times New Roman" panose="02020603050405020304" pitchFamily="18" charset="0"/>
              </a:rPr>
              <a:t>“Be reconciled to God.” </a:t>
            </a:r>
            <a:r>
              <a:rPr lang="en-US" sz="3600" b="1" dirty="0">
                <a:effectLst/>
                <a:latin typeface="Cambria" panose="02040503050406030204" pitchFamily="18" charset="0"/>
                <a:ea typeface="Calibri" panose="020F0502020204030204" pitchFamily="34" charset="0"/>
                <a:cs typeface="Times New Roman" panose="02020603050405020304" pitchFamily="18" charset="0"/>
              </a:rPr>
              <a:t>(2</a:t>
            </a:r>
            <a:r>
              <a:rPr lang="en-US" sz="3600" b="1" baseline="30000" dirty="0">
                <a:effectLst/>
                <a:latin typeface="Cambria" panose="02040503050406030204" pitchFamily="18" charset="0"/>
                <a:ea typeface="Calibri" panose="020F0502020204030204" pitchFamily="34" charset="0"/>
                <a:cs typeface="Times New Roman" panose="02020603050405020304" pitchFamily="18" charset="0"/>
              </a:rPr>
              <a:t>nd</a:t>
            </a:r>
            <a:r>
              <a:rPr lang="en-US" sz="3600" b="1" dirty="0">
                <a:effectLst/>
                <a:latin typeface="Cambria" panose="02040503050406030204" pitchFamily="18" charset="0"/>
                <a:ea typeface="Calibri" panose="020F0502020204030204" pitchFamily="34" charset="0"/>
                <a:cs typeface="Times New Roman" panose="02020603050405020304" pitchFamily="18" charset="0"/>
              </a:rPr>
              <a:t> Cor. 5:20) </a:t>
            </a:r>
            <a:r>
              <a:rPr lang="en-US" sz="3600" b="1" dirty="0">
                <a:solidFill>
                  <a:srgbClr val="0000CC"/>
                </a:solidFill>
                <a:effectLst/>
                <a:latin typeface="Cambria" panose="02040503050406030204" pitchFamily="18" charset="0"/>
                <a:ea typeface="Calibri" panose="020F0502020204030204" pitchFamily="34" charset="0"/>
                <a:cs typeface="Times New Roman" panose="02020603050405020304" pitchFamily="18" charset="0"/>
              </a:rPr>
              <a:t>He who lives by God’s merciful love is ready to respond to the Lord’s call:</a:t>
            </a:r>
            <a:r>
              <a:rPr lang="en-US" sz="3600" b="1" dirty="0">
                <a:solidFill>
                  <a:srgbClr val="990000"/>
                </a:solidFill>
                <a:effectLst/>
                <a:latin typeface="Cambria" panose="02040503050406030204" pitchFamily="18" charset="0"/>
                <a:ea typeface="Calibri" panose="020F0502020204030204" pitchFamily="34" charset="0"/>
                <a:cs typeface="Times New Roman" panose="02020603050405020304" pitchFamily="18" charset="0"/>
              </a:rPr>
              <a:t> “…go first be reconciled to your brother.”</a:t>
            </a:r>
            <a:r>
              <a:rPr lang="en-US" sz="3600" b="1" dirty="0">
                <a:latin typeface="Cambria" panose="02040503050406030204" pitchFamily="18" charset="0"/>
                <a:ea typeface="Calibri" panose="020F0502020204030204" pitchFamily="34" charset="0"/>
                <a:cs typeface="Times New Roman" panose="02020603050405020304" pitchFamily="18" charset="0"/>
              </a:rPr>
              <a:t> (Matthew. 5:24)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Blip>
                <a:blip r:embed="rId2"/>
              </a:buBlip>
            </a:pPr>
            <a:endParaRPr lang="en-US" sz="3000" b="1" dirty="0">
              <a:solidFill>
                <a:srgbClr val="000099"/>
              </a:solidFill>
              <a:effectLst/>
              <a:latin typeface="Cambria" panose="02040503050406030204" pitchFamily="18" charset="0"/>
              <a:ea typeface="Calibri" panose="020F0502020204030204" pitchFamily="34" charset="0"/>
              <a:cs typeface="Times New Roman" panose="02020603050405020304" pitchFamily="18" charset="0"/>
            </a:endParaRPr>
          </a:p>
          <a:p>
            <a:pPr marL="0" marR="0" lvl="0" indent="0">
              <a:spcBef>
                <a:spcPts val="0"/>
              </a:spcBef>
              <a:spcAft>
                <a:spcPts val="0"/>
              </a:spcAft>
              <a:buNone/>
            </a:pPr>
            <a:endParaRPr lang="en-US" sz="1800" b="1" dirty="0">
              <a:solidFill>
                <a:srgbClr val="000099"/>
              </a:solidFill>
              <a:effectLst/>
              <a:latin typeface="Cambria" panose="020405030504060302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dirty="0">
                <a:solidFill>
                  <a:srgbClr val="000000"/>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t> </a:t>
            </a:r>
          </a:p>
          <a:p>
            <a:endParaRPr lang="en-US" dirty="0"/>
          </a:p>
        </p:txBody>
      </p:sp>
    </p:spTree>
    <p:extLst>
      <p:ext uri="{BB962C8B-B14F-4D97-AF65-F5344CB8AC3E}">
        <p14:creationId xmlns:p14="http://schemas.microsoft.com/office/powerpoint/2010/main" val="2465772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457200" y="457200"/>
            <a:ext cx="8534400" cy="6096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p>
        </p:txBody>
      </p:sp>
      <p:sp>
        <p:nvSpPr>
          <p:cNvPr id="10243" name="Rectangle 3"/>
          <p:cNvSpPr>
            <a:spLocks noGrp="1" noChangeArrowheads="1"/>
          </p:cNvSpPr>
          <p:nvPr>
            <p:ph type="subTitle" idx="1"/>
          </p:nvPr>
        </p:nvSpPr>
        <p:spPr>
          <a:xfrm>
            <a:off x="152400" y="1524000"/>
            <a:ext cx="8763000" cy="5029200"/>
          </a:xfrm>
        </p:spPr>
        <p:txBody>
          <a:bodyPr rtlCol="0">
            <a:normAutofit lnSpcReduction="10000"/>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FOUNDATION VERSE</a:t>
            </a:r>
          </a:p>
          <a:p>
            <a:pPr marL="609600" indent="-609600" algn="l" eaLnBrk="1" fontAlgn="auto" hangingPunct="1">
              <a:spcAft>
                <a:spcPts val="0"/>
              </a:spcAft>
              <a:defRPr/>
            </a:pPr>
            <a:r>
              <a:rPr lang="en-US" b="1" dirty="0">
                <a:effectLst>
                  <a:outerShdw blurRad="38100" dist="38100" dir="2700000" algn="tl">
                    <a:srgbClr val="C0C0C0"/>
                  </a:outerShdw>
                </a:effectLst>
              </a:rPr>
              <a:t>	</a:t>
            </a:r>
            <a:r>
              <a:rPr lang="en-US" sz="3600" b="1" dirty="0">
                <a:solidFill>
                  <a:srgbClr val="920000"/>
                </a:solidFill>
                <a:effectLst/>
                <a:latin typeface="Cambria" panose="02040503050406030204" pitchFamily="18" charset="0"/>
                <a:ea typeface="Calibri" panose="020F0502020204030204" pitchFamily="34" charset="0"/>
                <a:cs typeface="Times New Roman" panose="02020603050405020304" pitchFamily="18" charset="0"/>
              </a:rPr>
              <a:t>“…your sorrow led you to repentance. For you became sorrowful as God intended and so were not harmed in any way by us.  Godly sorrow brings repentance that leads to salvation and leaves no regret, but worldly sorrow brings death.”</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609600" indent="-609600" algn="l" eaLnBrk="1" fontAlgn="auto" hangingPunct="1">
              <a:spcAft>
                <a:spcPts val="0"/>
              </a:spcAft>
              <a:buFont typeface="Arial" pitchFamily="34" charset="0"/>
              <a:buNone/>
              <a:defRPr/>
            </a:pPr>
            <a:r>
              <a:rPr lang="en-US" sz="2800" b="1" dirty="0">
                <a:effectLst>
                  <a:outerShdw blurRad="38100" dist="38100" dir="2700000" algn="tl">
                    <a:srgbClr val="C0C0C0"/>
                  </a:outerShdw>
                </a:effectLst>
              </a:rPr>
              <a:t>						</a:t>
            </a:r>
            <a:r>
              <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2 Cor. 7:9-10</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533400" y="228600"/>
            <a:ext cx="8382000" cy="6858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p>
        </p:txBody>
      </p:sp>
      <p:sp>
        <p:nvSpPr>
          <p:cNvPr id="12291" name="Rectangle 3"/>
          <p:cNvSpPr>
            <a:spLocks noGrp="1" noChangeArrowheads="1"/>
          </p:cNvSpPr>
          <p:nvPr>
            <p:ph type="subTitle" idx="1"/>
          </p:nvPr>
        </p:nvSpPr>
        <p:spPr>
          <a:xfrm>
            <a:off x="228600" y="1219200"/>
            <a:ext cx="8686800" cy="5410200"/>
          </a:xfrm>
        </p:spPr>
        <p:txBody>
          <a:bodyPr rtlCol="0">
            <a:normAutofit/>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Real repentance is:</a:t>
            </a:r>
          </a:p>
          <a:p>
            <a:pPr marL="609600" indent="-609600" algn="l" eaLnBrk="1" fontAlgn="auto" hangingPunct="1">
              <a:spcAft>
                <a:spcPts val="0"/>
              </a:spcAft>
              <a:buClr>
                <a:schemeClr val="tx1"/>
              </a:buClr>
              <a:buFont typeface="Wingdings"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to resolve to change completely</a:t>
            </a:r>
          </a:p>
          <a:p>
            <a:pPr algn="l" eaLnBrk="1" fontAlgn="auto" hangingPunct="1">
              <a:spcAft>
                <a:spcPts val="0"/>
              </a:spcAft>
              <a:buClr>
                <a:schemeClr val="tx1"/>
              </a:buClr>
              <a:defRPr/>
            </a:pPr>
            <a:endParaRPr lang="en-US" sz="3400"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capacity for true repentance is grace coming from God</a:t>
            </a:r>
          </a:p>
          <a:p>
            <a:pPr algn="l" eaLnBrk="1" fontAlgn="auto" hangingPunct="1">
              <a:spcAft>
                <a:spcPts val="0"/>
              </a:spcAft>
              <a:buClr>
                <a:schemeClr val="tx1"/>
              </a:buClr>
              <a:defRPr/>
            </a:pPr>
            <a:endParaRPr lang="en-US"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to surrender totally to God’s generosity.</a:t>
            </a:r>
          </a:p>
          <a:p>
            <a:pPr marL="609600" indent="-609600" algn="l" eaLnBrk="1" fontAlgn="auto" hangingPunct="1">
              <a:spcAft>
                <a:spcPts val="0"/>
              </a:spcAft>
              <a:buClr>
                <a:schemeClr val="tx1"/>
              </a:buClr>
              <a:buFont typeface="Wingdings" pitchFamily="2" charset="2"/>
              <a:buChar char="q"/>
              <a:defRPr/>
            </a:pPr>
            <a:endParaRPr lang="en-US" b="1" dirty="0">
              <a:effectLst>
                <a:outerShdw blurRad="38100" dist="38100" dir="2700000" algn="tl">
                  <a:srgbClr val="C0C0C0"/>
                </a:outerShdw>
              </a:effectLst>
            </a:endParaRPr>
          </a:p>
        </p:txBody>
      </p:sp>
    </p:spTree>
  </p:cSld>
  <p:clrMapOvr>
    <a:masterClrMapping/>
  </p:clrMapOvr>
  <p:transition>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457200"/>
            <a:ext cx="8458200" cy="708025"/>
          </a:xfrm>
          <a:prstGeom prst="rect">
            <a:avLst/>
          </a:prstGeom>
        </p:spPr>
        <p:txBody>
          <a:bodyPr>
            <a:spAutoFit/>
          </a:bodyPr>
          <a:lstStyle/>
          <a:p>
            <a:pPr>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dirty="0">
              <a:solidFill>
                <a:srgbClr val="7030A0"/>
              </a:solidFill>
            </a:endParaRPr>
          </a:p>
        </p:txBody>
      </p:sp>
      <p:sp>
        <p:nvSpPr>
          <p:cNvPr id="5" name="Rectangle 4"/>
          <p:cNvSpPr/>
          <p:nvPr/>
        </p:nvSpPr>
        <p:spPr>
          <a:xfrm>
            <a:off x="228600" y="1371600"/>
            <a:ext cx="8763000" cy="5386090"/>
          </a:xfrm>
          <a:prstGeom prst="rect">
            <a:avLst/>
          </a:prstGeom>
        </p:spPr>
        <p:txBody>
          <a:bodyPr wrap="square">
            <a:spAutoFit/>
          </a:bodyPr>
          <a:lstStyle/>
          <a:p>
            <a:pPr marL="609600" indent="-609600" fontAlgn="auto">
              <a:spcAft>
                <a:spcPts val="0"/>
              </a:spcAft>
              <a:defRPr/>
            </a:pPr>
            <a:r>
              <a:rPr lang="en-US" sz="32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Catechism of the Catholic Church</a:t>
            </a:r>
          </a:p>
          <a:p>
            <a:pPr marL="609600" indent="-609600" fontAlgn="auto">
              <a:spcAft>
                <a:spcPts val="0"/>
              </a:spcAft>
              <a:defRPr/>
            </a:pPr>
            <a:endParaRPr lang="en-US" sz="32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fontAlgn="auto">
              <a:spcAft>
                <a:spcPts val="0"/>
              </a:spcAft>
              <a:defRPr/>
            </a:pPr>
            <a:r>
              <a:rPr lang="en-US" sz="3200" b="1" dirty="0">
                <a:effectLst/>
                <a:latin typeface="Cambria" panose="02040503050406030204" pitchFamily="18" charset="0"/>
                <a:ea typeface="Calibri" panose="020F0502020204030204" pitchFamily="34" charset="0"/>
                <a:cs typeface="Times New Roman" panose="02020603050405020304" pitchFamily="18" charset="0"/>
              </a:rPr>
              <a:t>CCC 1468  </a:t>
            </a:r>
            <a:r>
              <a:rPr lang="en-US" sz="4000" b="1" u="sng" dirty="0">
                <a:solidFill>
                  <a:srgbClr val="080E86"/>
                </a:solidFill>
                <a:effectLst/>
                <a:latin typeface="Cambria" panose="02040503050406030204" pitchFamily="18" charset="0"/>
                <a:ea typeface="Calibri" panose="020F0502020204030204" pitchFamily="34" charset="0"/>
                <a:cs typeface="Times New Roman" panose="02020603050405020304" pitchFamily="18" charset="0"/>
              </a:rPr>
              <a:t>Reconciliation “is usually followed by peace and serenity of conscience with strong spiritual consolation</a:t>
            </a:r>
            <a:r>
              <a:rPr lang="en-US" sz="4000" b="1" dirty="0">
                <a:solidFill>
                  <a:srgbClr val="080E86"/>
                </a:solidFill>
                <a:effectLst/>
                <a:latin typeface="Cambria" panose="02040503050406030204" pitchFamily="18" charset="0"/>
                <a:ea typeface="Calibri" panose="020F0502020204030204" pitchFamily="34" charset="0"/>
                <a:cs typeface="Times New Roman" panose="02020603050405020304" pitchFamily="18" charset="0"/>
              </a:rPr>
              <a:t>.”  Indeed the Sacrament of Reconciliation with God </a:t>
            </a:r>
            <a:r>
              <a:rPr lang="en-US" sz="4000" b="1" u="sng" dirty="0">
                <a:solidFill>
                  <a:srgbClr val="080E86"/>
                </a:solidFill>
                <a:effectLst/>
                <a:latin typeface="Cambria" panose="02040503050406030204" pitchFamily="18" charset="0"/>
                <a:ea typeface="Calibri" panose="020F0502020204030204" pitchFamily="34" charset="0"/>
                <a:cs typeface="Times New Roman" panose="02020603050405020304" pitchFamily="18" charset="0"/>
              </a:rPr>
              <a:t>brings about a true “spiritual resurrection…”</a:t>
            </a:r>
            <a:endParaRPr lang="en-US" sz="40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685800" y="304800"/>
            <a:ext cx="8077200" cy="8382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14339" name="Rectangle 3"/>
          <p:cNvSpPr>
            <a:spLocks noGrp="1" noChangeArrowheads="1"/>
          </p:cNvSpPr>
          <p:nvPr>
            <p:ph type="subTitle" idx="1"/>
          </p:nvPr>
        </p:nvSpPr>
        <p:spPr>
          <a:xfrm>
            <a:off x="457200" y="1524000"/>
            <a:ext cx="8305800" cy="4800600"/>
          </a:xfrm>
        </p:spPr>
        <p:txBody>
          <a:bodyPr rtlCol="0">
            <a:normAutofit/>
          </a:bodyPr>
          <a:lstStyle/>
          <a:p>
            <a:pPr marL="609600" indent="-609600" algn="l" eaLnBrk="1" fontAlgn="auto" hangingPunct="1">
              <a:spcAft>
                <a:spcPts val="0"/>
              </a:spcAft>
              <a:buFont typeface="Arial" pitchFamily="34" charset="0"/>
              <a:buNone/>
              <a:defRPr/>
            </a:pPr>
            <a:r>
              <a:rPr lang="en-US" sz="3600" b="1" u="sng"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Remorse</a:t>
            </a: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 is not true repentance.</a:t>
            </a:r>
          </a:p>
          <a:p>
            <a:pPr marL="609600" indent="-609600" algn="l" eaLnBrk="1" fontAlgn="auto" hangingPunct="1">
              <a:spcAft>
                <a:spcPts val="0"/>
              </a:spcAft>
              <a:buFont typeface="Arial" pitchFamily="34" charset="0"/>
              <a:buNone/>
              <a:defRPr/>
            </a:pPr>
            <a:endPar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Font typeface="Arial" pitchFamily="34" charset="0"/>
              <a:buNone/>
              <a:defRPr/>
            </a:pPr>
            <a:r>
              <a:rPr lang="en-US" sz="35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	</a:t>
            </a:r>
            <a:r>
              <a:rPr lang="en-US" sz="4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It is simply feeling sorry for what we have done because we do not like the consequences of our sin.</a:t>
            </a:r>
            <a:r>
              <a:rPr lang="en-US" sz="4000" b="1" dirty="0">
                <a:solidFill>
                  <a:srgbClr val="000066"/>
                </a:solidFill>
                <a:effectLst/>
                <a:latin typeface="Cambria" panose="02040503050406030204" pitchFamily="18" charset="0"/>
                <a:ea typeface="Calibri" panose="020F0502020204030204" pitchFamily="34" charset="0"/>
                <a:cs typeface="Times New Roman" panose="02020603050405020304" pitchFamily="18" charset="0"/>
              </a:rPr>
              <a:t> </a:t>
            </a:r>
            <a:r>
              <a:rPr lang="en-US" sz="4000" b="1" dirty="0">
                <a:effectLst>
                  <a:outerShdw blurRad="38100" dist="38100" dir="2700000" algn="tl">
                    <a:srgbClr val="C0C0C0"/>
                  </a:outerShdw>
                </a:effectLst>
              </a:rPr>
              <a:t>	</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533400" y="152400"/>
            <a:ext cx="8077200" cy="9906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16387" name="Rectangle 3"/>
          <p:cNvSpPr>
            <a:spLocks noGrp="1" noChangeArrowheads="1"/>
          </p:cNvSpPr>
          <p:nvPr>
            <p:ph type="subTitle" idx="1"/>
          </p:nvPr>
        </p:nvSpPr>
        <p:spPr>
          <a:xfrm>
            <a:off x="76200" y="1143000"/>
            <a:ext cx="8915400" cy="5486400"/>
          </a:xfrm>
        </p:spPr>
        <p:txBody>
          <a:bodyPr rtlCol="0">
            <a:noAutofit/>
          </a:bodyPr>
          <a:lstStyle/>
          <a:p>
            <a:pPr marL="609600" indent="-609600" algn="l" eaLnBrk="1" fontAlgn="auto" hangingPunct="1">
              <a:spcAft>
                <a:spcPts val="0"/>
              </a:spcAft>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	Characteristics of remorse</a:t>
            </a:r>
          </a:p>
          <a:p>
            <a:pPr marL="609600" indent="-609600" algn="l" eaLnBrk="1" fontAlgn="auto" hangingPunct="1">
              <a:spcAft>
                <a:spcPts val="0"/>
              </a:spcAft>
              <a:buFont typeface="Wingdings" panose="05000000000000000000"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asserts the ego/self; </a:t>
            </a:r>
            <a:r>
              <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 13:8-9</a:t>
            </a:r>
            <a:r>
              <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a:t>
            </a:r>
          </a:p>
          <a:p>
            <a:pPr marL="609600" indent="-609600" algn="l" eaLnBrk="1" fontAlgn="auto" hangingPunct="1">
              <a:spcAft>
                <a:spcPts val="0"/>
              </a:spcAft>
              <a:buFont typeface="Wingdings" panose="05000000000000000000" pitchFamily="2" charset="2"/>
              <a:buChar char="q"/>
              <a:defRPr/>
            </a:pPr>
            <a:endPar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a:p>
            <a:pPr marL="457200" indent="-457200" algn="l">
              <a:buFont typeface="Wingdings" panose="05000000000000000000" pitchFamily="2" charset="2"/>
              <a:buChar char="q"/>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 always making excuses</a:t>
            </a:r>
            <a:r>
              <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a:t>
            </a:r>
            <a:r>
              <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Samuel 13:11-14)</a:t>
            </a:r>
            <a:endParaRPr lang="en-US" sz="2800" b="1" dirty="0">
              <a:solidFill>
                <a:srgbClr val="002060"/>
              </a:solidFill>
            </a:endParaRPr>
          </a:p>
          <a:p>
            <a:pPr marL="609600" indent="-609600" algn="l" eaLnBrk="1" fontAlgn="auto" hangingPunct="1">
              <a:spcAft>
                <a:spcPts val="0"/>
              </a:spcAft>
              <a:buClr>
                <a:schemeClr val="tx1"/>
              </a:buClr>
              <a:buFont typeface="Wingdings" panose="05000000000000000000"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obedience carried out for reasons of convenience;   </a:t>
            </a:r>
            <a:r>
              <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Sam.15:9-10)</a:t>
            </a:r>
          </a:p>
          <a:p>
            <a:pPr marL="609600" indent="-609600" algn="l" eaLnBrk="1" fontAlgn="auto" hangingPunct="1">
              <a:spcAft>
                <a:spcPts val="0"/>
              </a:spcAft>
              <a:buClr>
                <a:schemeClr val="tx1"/>
              </a:buClr>
              <a:buFont typeface="Wingdings" panose="05000000000000000000"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taking God’s forgiveness and mercy for granted</a:t>
            </a:r>
            <a:r>
              <a:rPr lang="en-US" sz="3400" b="1" dirty="0">
                <a:solidFill>
                  <a:schemeClr val="tx1"/>
                </a:solidFill>
                <a:effectLst>
                  <a:outerShdw blurRad="38100" dist="38100" dir="2700000" algn="tl">
                    <a:srgbClr val="C0C0C0"/>
                  </a:outerShdw>
                </a:effectLst>
              </a:rPr>
              <a: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609600" y="304800"/>
            <a:ext cx="8153400" cy="838200"/>
          </a:xfrm>
        </p:spPr>
        <p:txBody>
          <a:bodyPr rtlCol="0">
            <a:norm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18435" name="Rectangle 3"/>
          <p:cNvSpPr>
            <a:spLocks noGrp="1" noChangeArrowheads="1"/>
          </p:cNvSpPr>
          <p:nvPr>
            <p:ph type="subTitle" idx="1"/>
          </p:nvPr>
        </p:nvSpPr>
        <p:spPr>
          <a:xfrm>
            <a:off x="228600" y="1295400"/>
            <a:ext cx="8686800" cy="5486400"/>
          </a:xfrm>
        </p:spPr>
        <p:txBody>
          <a:bodyPr rtlCol="0">
            <a:normAutofit/>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	</a:t>
            </a:r>
          </a:p>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Characteristics of remorse:                                      </a:t>
            </a:r>
            <a:r>
              <a:rPr lang="en-US" sz="2400" b="1" dirty="0">
                <a:effectLst>
                  <a:outerShdw blurRad="38100" dist="38100" dir="2700000" algn="tl">
                    <a:srgbClr val="C0C0C0"/>
                  </a:outerShdw>
                </a:effectLst>
                <a:latin typeface="Tahoma" pitchFamily="34" charset="0"/>
                <a:ea typeface="Tahoma" pitchFamily="34" charset="0"/>
                <a:cs typeface="Tahoma" pitchFamily="34" charset="0"/>
              </a:rPr>
              <a:t>         					</a:t>
            </a:r>
            <a:r>
              <a:rPr lang="en-US" sz="2000" b="1" dirty="0">
                <a:effectLst>
                  <a:outerShdw blurRad="38100" dist="38100" dir="2700000" algn="tl">
                    <a:srgbClr val="C0C0C0"/>
                  </a:outerShdw>
                </a:effectLst>
                <a:latin typeface="Tahoma" pitchFamily="34" charset="0"/>
                <a:ea typeface="Tahoma" pitchFamily="34" charset="0"/>
                <a:cs typeface="Tahoma" pitchFamily="34" charset="0"/>
              </a:rPr>
              <a:t>		</a:t>
            </a:r>
            <a:r>
              <a:rPr lang="en-US" sz="2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CONTINUED</a:t>
            </a:r>
          </a:p>
          <a:p>
            <a:pPr marL="609600" indent="-609600" algn="l" eaLnBrk="1" fontAlgn="auto" hangingPunct="1">
              <a:spcAft>
                <a:spcPts val="0"/>
              </a:spcAft>
              <a:buFont typeface="Arial" pitchFamily="34" charset="0"/>
              <a:buNone/>
              <a:defRPr/>
            </a:pPr>
            <a:endParaRPr lang="en-US" sz="2000" b="1" dirty="0">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anose="05000000000000000000"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unable to accept full responsibility for one’s action;           </a:t>
            </a:r>
            <a:r>
              <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 15:20)</a:t>
            </a:r>
            <a:endPar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anose="05000000000000000000"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avoids consequences of sin;  </a:t>
            </a:r>
            <a:r>
              <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 15:24, 26)</a:t>
            </a:r>
            <a:endPar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anose="05000000000000000000"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absence of surrender;  </a:t>
            </a:r>
            <a:r>
              <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 15:27)</a:t>
            </a:r>
            <a:endPar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Arial" pitchFamily="34" charset="0"/>
              <a:buNone/>
              <a:defRPr/>
            </a:pPr>
            <a:endParaRPr lang="en-US" b="1" dirty="0">
              <a:effectLst>
                <a:outerShdw blurRad="38100" dist="38100" dir="2700000" algn="tl">
                  <a:srgbClr val="C0C0C0"/>
                </a:outerShdw>
              </a:effectLst>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685800" y="304800"/>
            <a:ext cx="8077200" cy="838200"/>
          </a:xfrm>
        </p:spPr>
        <p:txBody>
          <a:bodyPr rtlCol="0">
            <a:norm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22531" name="Rectangle 3"/>
          <p:cNvSpPr>
            <a:spLocks noGrp="1" noChangeArrowheads="1"/>
          </p:cNvSpPr>
          <p:nvPr>
            <p:ph type="subTitle" idx="1"/>
          </p:nvPr>
        </p:nvSpPr>
        <p:spPr>
          <a:xfrm>
            <a:off x="304800" y="1371600"/>
            <a:ext cx="8534400" cy="5181600"/>
          </a:xfrm>
        </p:spPr>
        <p:txBody>
          <a:bodyPr rtlCol="0">
            <a:normAutofit/>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Characteristics of true repentance</a:t>
            </a:r>
            <a:r>
              <a:rPr lang="en-US"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   </a:t>
            </a:r>
            <a:r>
              <a:rPr lang="en-US" b="1" dirty="0">
                <a:effectLst>
                  <a:outerShdw blurRad="38100" dist="38100" dir="2700000" algn="tl">
                    <a:srgbClr val="C0C0C0"/>
                  </a:outerShdw>
                </a:effectLst>
                <a:latin typeface="Tahoma" pitchFamily="34" charset="0"/>
                <a:ea typeface="Tahoma" pitchFamily="34" charset="0"/>
                <a:cs typeface="Tahoma" pitchFamily="34" charset="0"/>
              </a:rPr>
              <a:t>                      					     </a:t>
            </a: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(2 Sam 12:1-16)</a:t>
            </a:r>
          </a:p>
          <a:p>
            <a:pPr marL="609600" indent="-609600" algn="l" eaLnBrk="1" fontAlgn="auto" hangingPunct="1">
              <a:spcAft>
                <a:spcPts val="0"/>
              </a:spcAft>
              <a:buFont typeface="Arial" pitchFamily="34" charset="0"/>
              <a:buNone/>
              <a:defRPr/>
            </a:pPr>
            <a:endPar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humbly accepts wrong-doing </a:t>
            </a:r>
          </a:p>
          <a:p>
            <a:pPr marL="609600" indent="-609600" algn="l" eaLnBrk="1" fontAlgn="auto" hangingPunct="1">
              <a:spcAft>
                <a:spcPts val="0"/>
              </a:spcAft>
              <a:buClr>
                <a:schemeClr val="tx1"/>
              </a:buClr>
              <a:buFont typeface="Wingdings"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promptly makes up for the harm done </a:t>
            </a:r>
          </a:p>
          <a:p>
            <a:pPr marL="609600" indent="-609600" algn="l" eaLnBrk="1" fontAlgn="auto" hangingPunct="1">
              <a:spcAft>
                <a:spcPts val="0"/>
              </a:spcAft>
              <a:buClr>
                <a:schemeClr val="tx1"/>
              </a:buClr>
              <a:buFont typeface="Wingdings"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empathizes with the wounded ones </a:t>
            </a:r>
          </a:p>
          <a:p>
            <a:pPr marL="609600" indent="-609600" algn="l" eaLnBrk="1" fontAlgn="auto" hangingPunct="1">
              <a:spcAft>
                <a:spcPts val="0"/>
              </a:spcAft>
              <a:buClr>
                <a:schemeClr val="tx1"/>
              </a:buClr>
              <a:buFont typeface="Wingdings" pitchFamily="2" charset="2"/>
              <a:buChar char="q"/>
              <a:defRPr/>
            </a:pPr>
            <a:r>
              <a:rPr lang="en-US" sz="3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takes full responsibility for own sins</a:t>
            </a:r>
            <a:endParaRPr lang="en-US" sz="3400" b="1" dirty="0">
              <a:effectLst>
                <a:outerShdw blurRad="38100" dist="38100" dir="2700000" algn="tl">
                  <a:srgbClr val="C0C0C0"/>
                </a:outerShdw>
              </a:effectLst>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685800" y="304800"/>
            <a:ext cx="8153400" cy="838200"/>
          </a:xfrm>
        </p:spPr>
        <p:txBody>
          <a:bodyPr rtlCol="0">
            <a:norm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24579" name="Rectangle 3"/>
          <p:cNvSpPr>
            <a:spLocks noGrp="1" noChangeArrowheads="1"/>
          </p:cNvSpPr>
          <p:nvPr>
            <p:ph type="subTitle" idx="1"/>
          </p:nvPr>
        </p:nvSpPr>
        <p:spPr>
          <a:xfrm>
            <a:off x="304800" y="1676400"/>
            <a:ext cx="8534400" cy="4876800"/>
          </a:xfrm>
        </p:spPr>
        <p:txBody>
          <a:bodyPr rtlCol="0">
            <a:normAutofit/>
          </a:bodyPr>
          <a:lstStyle/>
          <a:p>
            <a:pPr marL="609600" indent="-609600" algn="l" eaLnBrk="1" fontAlgn="auto" hangingPunct="1">
              <a:spcAft>
                <a:spcPts val="0"/>
              </a:spcAft>
              <a:buFont typeface="Arial" pitchFamily="34" charset="0"/>
              <a:buNone/>
              <a:defRPr/>
            </a:pPr>
            <a:r>
              <a:rPr lang="en-US" sz="38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Characteristics of true repentance                     </a:t>
            </a:r>
            <a:r>
              <a:rPr lang="en-US" b="1" dirty="0">
                <a:effectLst>
                  <a:outerShdw blurRad="38100" dist="38100" dir="2700000" algn="tl">
                    <a:srgbClr val="C0C0C0"/>
                  </a:outerShdw>
                </a:effectLst>
                <a:latin typeface="Tahoma" pitchFamily="34" charset="0"/>
                <a:ea typeface="Tahoma" pitchFamily="34" charset="0"/>
                <a:cs typeface="Tahoma" pitchFamily="34" charset="0"/>
              </a:rPr>
              <a:t>		</a:t>
            </a:r>
            <a:r>
              <a:rPr lang="en-US"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		</a:t>
            </a: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(2 Sam 12:1-16</a:t>
            </a:r>
            <a:r>
              <a:rPr lang="en-US" sz="2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 </a:t>
            </a:r>
            <a:r>
              <a:rPr lang="en-US"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 </a:t>
            </a:r>
            <a:r>
              <a:rPr lang="en-US" sz="2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CONTINUED</a:t>
            </a:r>
          </a:p>
          <a:p>
            <a:pPr marL="609600" indent="-609600" algn="l" eaLnBrk="1" fontAlgn="auto" hangingPunct="1">
              <a:spcAft>
                <a:spcPts val="0"/>
              </a:spcAft>
              <a:buFont typeface="Wingdings" pitchFamily="2" charset="2"/>
              <a:buChar char="q"/>
              <a:defRPr/>
            </a:pPr>
            <a:endParaRPr lang="en-US" sz="2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itchFamily="2" charset="2"/>
              <a:buChar char="q"/>
              <a:defRPr/>
            </a:pPr>
            <a:r>
              <a:rPr lang="en-US" sz="4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resolves to turn life around</a:t>
            </a:r>
          </a:p>
          <a:p>
            <a:pPr marL="609600" indent="-609600" algn="l" eaLnBrk="1" fontAlgn="auto" hangingPunct="1">
              <a:spcAft>
                <a:spcPts val="0"/>
              </a:spcAft>
              <a:buClr>
                <a:schemeClr val="tx1"/>
              </a:buClr>
              <a:buFont typeface="Wingdings" pitchFamily="2" charset="2"/>
              <a:buChar char="q"/>
              <a:defRPr/>
            </a:pPr>
            <a:r>
              <a:rPr lang="en-US" sz="4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asks God for the grace of transformation</a:t>
            </a:r>
          </a:p>
          <a:p>
            <a:pPr marL="609600" indent="-609600" algn="l" eaLnBrk="1" fontAlgn="auto" hangingPunct="1">
              <a:spcAft>
                <a:spcPts val="0"/>
              </a:spcAft>
              <a:buClr>
                <a:schemeClr val="tx1"/>
              </a:buClr>
              <a:buFont typeface="Wingdings" pitchFamily="2" charset="2"/>
              <a:buChar char="q"/>
              <a:defRPr/>
            </a:pPr>
            <a:r>
              <a:rPr lang="en-US" sz="4000" b="1">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Subjects’ </a:t>
            </a:r>
            <a:r>
              <a:rPr lang="en-US" sz="4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self to discipline</a:t>
            </a:r>
          </a:p>
          <a:p>
            <a:pPr algn="l" eaLnBrk="1" fontAlgn="auto" hangingPunct="1">
              <a:spcAft>
                <a:spcPts val="0"/>
              </a:spcAft>
              <a:buClr>
                <a:schemeClr val="tx1"/>
              </a:buClr>
              <a:defRPr/>
            </a:pPr>
            <a:endParaRPr lang="en-US" sz="35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685800" y="381000"/>
            <a:ext cx="8001000" cy="11430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20483" name="Rectangle 3"/>
          <p:cNvSpPr>
            <a:spLocks noGrp="1" noChangeArrowheads="1"/>
          </p:cNvSpPr>
          <p:nvPr>
            <p:ph type="subTitle" idx="1"/>
          </p:nvPr>
        </p:nvSpPr>
        <p:spPr>
          <a:xfrm>
            <a:off x="685800" y="1600200"/>
            <a:ext cx="8153400" cy="4953000"/>
          </a:xfrm>
        </p:spPr>
        <p:txBody>
          <a:bodyPr rtlCol="0">
            <a:normAutofit/>
          </a:bodyPr>
          <a:lstStyle/>
          <a:p>
            <a:pPr marL="609600" indent="-609600" algn="l" eaLnBrk="1" fontAlgn="auto" hangingPunct="1">
              <a:spcAft>
                <a:spcPts val="0"/>
              </a:spcAft>
              <a:buFont typeface="Arial" pitchFamily="34" charset="0"/>
              <a:buNone/>
              <a:defRPr/>
            </a:pPr>
            <a:endParaRPr lang="en-US" b="1" dirty="0">
              <a:effectLst>
                <a:outerShdw blurRad="38100" dist="38100" dir="2700000" algn="tl">
                  <a:srgbClr val="C0C0C0"/>
                </a:outerShdw>
              </a:effectLst>
            </a:endParaRPr>
          </a:p>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Sacrifices acceptable to God</a:t>
            </a:r>
          </a:p>
          <a:p>
            <a:pPr marL="609600" indent="-609600" algn="l" eaLnBrk="1" fontAlgn="auto" hangingPunct="1">
              <a:spcAft>
                <a:spcPts val="0"/>
              </a:spcAft>
              <a:buFont typeface="Arial" pitchFamily="34" charset="0"/>
              <a:buNone/>
              <a:defRPr/>
            </a:pPr>
            <a:endParaRPr lang="en-US" sz="3600" b="1"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itchFamily="2" charset="2"/>
              <a:buChar char="Ø"/>
              <a:defRPr/>
            </a:pPr>
            <a:r>
              <a:rPr lang="en-US" sz="4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broken spirit</a:t>
            </a:r>
          </a:p>
          <a:p>
            <a:pPr marL="609600" indent="-609600" algn="l" eaLnBrk="1" fontAlgn="auto" hangingPunct="1">
              <a:spcAft>
                <a:spcPts val="0"/>
              </a:spcAft>
              <a:buClr>
                <a:schemeClr val="tx1"/>
              </a:buClr>
              <a:buFont typeface="Wingdings" pitchFamily="2" charset="2"/>
              <a:buChar char="Ø"/>
              <a:defRPr/>
            </a:pPr>
            <a:r>
              <a:rPr lang="en-US" sz="44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contrite heart.  </a:t>
            </a:r>
            <a:r>
              <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(Psalm 51:17)</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571500" y="228600"/>
            <a:ext cx="8077200" cy="6858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28675" name="Rectangle 3"/>
          <p:cNvSpPr>
            <a:spLocks noGrp="1" noChangeArrowheads="1"/>
          </p:cNvSpPr>
          <p:nvPr>
            <p:ph type="subTitle" idx="1"/>
          </p:nvPr>
        </p:nvSpPr>
        <p:spPr>
          <a:xfrm>
            <a:off x="228600" y="1066800"/>
            <a:ext cx="8686800" cy="5638800"/>
          </a:xfrm>
        </p:spPr>
        <p:txBody>
          <a:bodyPr rtlCol="0">
            <a:normAutofit/>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How do we bring ourselves &amp; others to repentance?</a:t>
            </a:r>
          </a:p>
          <a:p>
            <a:pPr marL="609600" indent="-609600" algn="l" eaLnBrk="1" fontAlgn="auto" hangingPunct="1">
              <a:spcAft>
                <a:spcPts val="0"/>
              </a:spcAft>
              <a:buFont typeface="Arial" pitchFamily="34" charset="0"/>
              <a:buNone/>
              <a:defRPr/>
            </a:pPr>
            <a:endParaRPr lang="en-US" sz="9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itchFamily="2" charset="2"/>
              <a:buChar char="q"/>
              <a:defRPr/>
            </a:pPr>
            <a:r>
              <a:rPr lang="en-US" sz="33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We simply don’t know.  Only God knows.  </a:t>
            </a:r>
          </a:p>
          <a:p>
            <a:pPr marL="609600" indent="-609600" algn="l" eaLnBrk="1" fontAlgn="auto" hangingPunct="1">
              <a:spcAft>
                <a:spcPts val="0"/>
              </a:spcAft>
              <a:buClr>
                <a:schemeClr val="tx1"/>
              </a:buClr>
              <a:buFont typeface="Wingdings" pitchFamily="2" charset="2"/>
              <a:buChar char="q"/>
              <a:defRPr/>
            </a:pPr>
            <a:r>
              <a:rPr lang="en-US" sz="33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accept reality of the problem</a:t>
            </a:r>
          </a:p>
          <a:p>
            <a:pPr marL="609600" indent="-609600" algn="l" eaLnBrk="1" fontAlgn="auto" hangingPunct="1">
              <a:spcAft>
                <a:spcPts val="0"/>
              </a:spcAft>
              <a:buClr>
                <a:schemeClr val="tx1"/>
              </a:buClr>
              <a:defRPr/>
            </a:pPr>
            <a:r>
              <a:rPr lang="en-US" sz="33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  </a:t>
            </a: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Romans 2:4</a:t>
            </a:r>
          </a:p>
          <a:p>
            <a:pPr marL="609600" indent="-609600" algn="l" eaLnBrk="1" fontAlgn="auto" hangingPunct="1">
              <a:spcAft>
                <a:spcPts val="0"/>
              </a:spcAft>
              <a:buClr>
                <a:schemeClr val="tx1"/>
              </a:buClr>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	</a:t>
            </a:r>
            <a:r>
              <a:rPr lang="en-US" sz="26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“Do you hold his priceless kindness, forbearance, and patience in low esteem, unaware that the kindness of God would lead to repentance.”</a:t>
            </a:r>
            <a:endParaRPr lang="en-US" sz="2600" b="1" dirty="0">
              <a:effectLst>
                <a:outerShdw blurRad="38100" dist="38100" dir="2700000" algn="tl">
                  <a:srgbClr val="C0C0C0"/>
                </a:outerShdw>
              </a:effectLst>
              <a:latin typeface="Tahoma" pitchFamily="34" charset="0"/>
              <a:ea typeface="Tahoma" pitchFamily="34" charset="0"/>
              <a:cs typeface="Tahoma"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ctrTitle"/>
          </p:nvPr>
        </p:nvSpPr>
        <p:spPr>
          <a:xfrm>
            <a:off x="457200" y="228600"/>
            <a:ext cx="8305800" cy="990600"/>
          </a:xfrm>
        </p:spPr>
        <p:txBody>
          <a:bodyPr rtlCol="0">
            <a:norm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30723" name="Rectangle 3"/>
          <p:cNvSpPr>
            <a:spLocks noGrp="1" noChangeArrowheads="1"/>
          </p:cNvSpPr>
          <p:nvPr>
            <p:ph type="subTitle" idx="1"/>
          </p:nvPr>
        </p:nvSpPr>
        <p:spPr>
          <a:xfrm>
            <a:off x="304800" y="1295400"/>
            <a:ext cx="8610600" cy="5334000"/>
          </a:xfrm>
        </p:spPr>
        <p:txBody>
          <a:bodyPr rtlCol="0">
            <a:normAutofit/>
          </a:bodyPr>
          <a:lstStyle/>
          <a:p>
            <a:pPr marL="609600" indent="-609600" algn="l" eaLnBrk="1" fontAlgn="auto" hangingPunct="1">
              <a:spcAft>
                <a:spcPts val="0"/>
              </a:spcAft>
              <a:buFont typeface="Arial" pitchFamily="34" charset="0"/>
              <a:buNone/>
              <a:defRPr/>
            </a:pPr>
            <a:r>
              <a:rPr lang="en-US" sz="39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Bringing others to repentance</a:t>
            </a:r>
          </a:p>
          <a:p>
            <a:pPr marL="609600" indent="-609600" algn="l" eaLnBrk="1" fontAlgn="auto" hangingPunct="1">
              <a:spcAft>
                <a:spcPts val="0"/>
              </a:spcAft>
              <a:buFont typeface="Arial" pitchFamily="34" charset="0"/>
              <a:buNone/>
              <a:defRPr/>
            </a:pPr>
            <a:endParaRPr lang="en-US" sz="8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Font typeface="Wingdings" pitchFamily="2" charset="2"/>
              <a:buChar char="q"/>
              <a:defRPr/>
            </a:pPr>
            <a:r>
              <a:rPr lang="en-US" sz="36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read the bible, especially verses that pertains to the problem</a:t>
            </a:r>
          </a:p>
          <a:p>
            <a:pPr algn="l" eaLnBrk="1" fontAlgn="auto" hangingPunct="1">
              <a:spcAft>
                <a:spcPts val="0"/>
              </a:spcAft>
              <a:defRPr/>
            </a:pPr>
            <a:endParaRPr lang="en-US" sz="11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Clr>
                <a:schemeClr val="tx1"/>
              </a:buClr>
              <a:buFont typeface="Wingdings" pitchFamily="2" charset="2"/>
              <a:buChar char="q"/>
              <a:defRPr/>
            </a:pPr>
            <a:r>
              <a:rPr lang="en-US" sz="36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recognize the importance of restitution as part of the process of healing and transformation</a:t>
            </a:r>
          </a:p>
          <a:p>
            <a:pPr marL="609600" indent="-609600" algn="l" eaLnBrk="1" fontAlgn="auto" hangingPunct="1">
              <a:spcAft>
                <a:spcPts val="0"/>
              </a:spcAft>
              <a:buClr>
                <a:schemeClr val="tx1"/>
              </a:buClr>
              <a:defRPr/>
            </a:pPr>
            <a:r>
              <a:rPr lang="en-US" sz="3600" b="1" dirty="0">
                <a:effectLst>
                  <a:outerShdw blurRad="38100" dist="38100" dir="2700000" algn="tl">
                    <a:srgbClr val="C0C0C0"/>
                  </a:outerShdw>
                </a:effectLst>
                <a:latin typeface="Tahoma" pitchFamily="34" charset="0"/>
                <a:ea typeface="Tahoma" pitchFamily="34" charset="0"/>
                <a:cs typeface="Tahoma" pitchFamily="34" charset="0"/>
              </a:rPr>
              <a:t>    </a:t>
            </a:r>
            <a:r>
              <a:rPr lang="en-US" sz="36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(Lev. 5:20-24; Ex. 21: 37; Luke 19:1-10) 				      		</a:t>
            </a:r>
          </a:p>
          <a:p>
            <a:pPr marL="609600" indent="-609600" algn="l" eaLnBrk="1" fontAlgn="auto" hangingPunct="1">
              <a:spcAft>
                <a:spcPts val="0"/>
              </a:spcAft>
              <a:buClr>
                <a:schemeClr val="tx1"/>
              </a:buClr>
              <a:buFont typeface="Wingdings" pitchFamily="2" charset="2"/>
              <a:buChar char="v"/>
              <a:defRPr/>
            </a:pPr>
            <a:endParaRPr lang="en-US" sz="28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0" y="381000"/>
            <a:ext cx="6629400" cy="762000"/>
          </a:xfrm>
          <a:prstGeom prst="rect">
            <a:avLst/>
          </a:prstGeom>
        </p:spPr>
        <p:txBody>
          <a:bodyPr/>
          <a:lstStyle/>
          <a:p>
            <a:pPr fontAlgn="auto">
              <a:spcAft>
                <a:spcPts val="0"/>
              </a:spcAft>
              <a:defRPr/>
            </a:pPr>
            <a:endParaRPr lang="en-US" sz="3600" b="1" u="sng" dirty="0">
              <a:solidFill>
                <a:srgbClr val="660066"/>
              </a:solidFill>
              <a:effectLst>
                <a:outerShdw blurRad="38100" dist="38100" dir="2700000" algn="tl">
                  <a:srgbClr val="C0C0C0"/>
                </a:outerShdw>
              </a:effectLst>
              <a:latin typeface="+mj-lt"/>
              <a:ea typeface="+mj-ea"/>
              <a:cs typeface="+mj-cs"/>
            </a:endParaRPr>
          </a:p>
        </p:txBody>
      </p:sp>
      <p:sp>
        <p:nvSpPr>
          <p:cNvPr id="3" name="Rectangle 2"/>
          <p:cNvSpPr/>
          <p:nvPr/>
        </p:nvSpPr>
        <p:spPr>
          <a:xfrm>
            <a:off x="304800" y="1180730"/>
            <a:ext cx="8610600" cy="5262979"/>
          </a:xfrm>
          <a:prstGeom prst="rect">
            <a:avLst/>
          </a:prstGeom>
        </p:spPr>
        <p:txBody>
          <a:bodyPr wrap="square">
            <a:spAutoFit/>
          </a:bodyPr>
          <a:lstStyle/>
          <a:p>
            <a:pPr marL="609600" indent="-609600">
              <a:defRPr/>
            </a:pPr>
            <a:r>
              <a:rPr lang="en-US" sz="3600" b="1" dirty="0">
                <a:effectLst>
                  <a:outerShdw blurRad="38100" dist="38100" dir="2700000" algn="tl">
                    <a:srgbClr val="C0C0C0"/>
                  </a:outerShdw>
                </a:effectLst>
                <a:latin typeface="Constantia" pitchFamily="18" charset="0"/>
              </a:rPr>
              <a:t> </a:t>
            </a: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Seek </a:t>
            </a:r>
            <a:r>
              <a:rPr lang="en-US" sz="3600" b="1"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restitution</a:t>
            </a: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 not retribution:</a:t>
            </a:r>
            <a:endParaRPr lang="en-US" sz="28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defRPr/>
            </a:pPr>
            <a:endPar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defRPr/>
            </a:pPr>
            <a:r>
              <a:rPr lang="en-US" sz="40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 </a:t>
            </a:r>
            <a:r>
              <a:rPr lang="en-US" sz="4000" b="1"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rPr>
              <a:t>	</a:t>
            </a:r>
            <a:r>
              <a:rPr lang="en-US" sz="44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Restitution</a:t>
            </a:r>
            <a:r>
              <a:rPr lang="en-US" sz="4400" b="1"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 is a voluntary act of making amends to what has been broken or taken, compensating for the damage done to the other person.</a:t>
            </a:r>
          </a:p>
        </p:txBody>
      </p:sp>
      <p:sp>
        <p:nvSpPr>
          <p:cNvPr id="4" name="Rectangle 3"/>
          <p:cNvSpPr/>
          <p:nvPr/>
        </p:nvSpPr>
        <p:spPr>
          <a:xfrm>
            <a:off x="609600" y="381000"/>
            <a:ext cx="7964488" cy="708025"/>
          </a:xfrm>
          <a:prstGeom prst="rect">
            <a:avLst/>
          </a:prstGeom>
        </p:spPr>
        <p:txBody>
          <a:bodyPr wrap="none">
            <a:spAutoFit/>
          </a:bodyPr>
          <a:lstStyle/>
          <a:p>
            <a:pPr>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dirty="0">
              <a:solidFill>
                <a:srgbClr val="7030A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685800" y="228600"/>
            <a:ext cx="7924800" cy="762000"/>
          </a:xfrm>
        </p:spPr>
        <p:txBody>
          <a:bodyPr rtlCol="0">
            <a:norm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32771" name="Rectangle 3"/>
          <p:cNvSpPr>
            <a:spLocks noGrp="1" noChangeArrowheads="1"/>
          </p:cNvSpPr>
          <p:nvPr>
            <p:ph type="subTitle" idx="1"/>
          </p:nvPr>
        </p:nvSpPr>
        <p:spPr>
          <a:xfrm>
            <a:off x="228600" y="1066800"/>
            <a:ext cx="8686800" cy="5791200"/>
          </a:xfrm>
        </p:spPr>
        <p:txBody>
          <a:bodyPr rtlCol="0">
            <a:normAutofit/>
          </a:bodyPr>
          <a:lstStyle/>
          <a:p>
            <a:pPr marL="609600" indent="-609600" algn="l" eaLnBrk="1" fontAlgn="auto" hangingPunct="1">
              <a:spcAft>
                <a:spcPts val="0"/>
              </a:spcAft>
              <a:buFont typeface="Arial" pitchFamily="34" charset="0"/>
              <a:buNone/>
              <a:defRPr/>
            </a:pPr>
            <a:r>
              <a:rPr lang="en-US" sz="40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Seek </a:t>
            </a:r>
            <a:r>
              <a:rPr lang="en-US" sz="4000" b="1"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restitution</a:t>
            </a:r>
            <a:r>
              <a:rPr lang="en-US" sz="40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 not retribution </a:t>
            </a:r>
          </a:p>
          <a:p>
            <a:pPr marL="609600" indent="-609600" algn="l" eaLnBrk="1" fontAlgn="auto" hangingPunct="1">
              <a:spcAft>
                <a:spcPts val="0"/>
              </a:spcAft>
              <a:buFont typeface="Arial" pitchFamily="34" charset="0"/>
              <a:buNone/>
              <a:defRPr/>
            </a:pPr>
            <a:r>
              <a:rPr lang="en-US" b="1"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rPr>
              <a:t> </a:t>
            </a:r>
            <a:r>
              <a:rPr lang="en-US" sz="30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It is God’s law for healing both victim and offender.</a:t>
            </a:r>
          </a:p>
          <a:p>
            <a:pPr marL="609600" indent="-609600" algn="l" eaLnBrk="1" fontAlgn="auto" hangingPunct="1">
              <a:spcAft>
                <a:spcPts val="0"/>
              </a:spcAft>
              <a:buFont typeface="Arial" pitchFamily="34" charset="0"/>
              <a:buNone/>
              <a:defRPr/>
            </a:pPr>
            <a:r>
              <a:rPr lang="en-US" b="1" u="sng"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For the victim</a:t>
            </a:r>
          </a:p>
          <a:p>
            <a:pPr marL="609600" indent="-609600" algn="l" eaLnBrk="1" fontAlgn="auto" hangingPunct="1">
              <a:spcAft>
                <a:spcPts val="0"/>
              </a:spcAft>
              <a:buFont typeface="Arial" pitchFamily="34" charset="0"/>
              <a:buNone/>
              <a:defRPr/>
            </a:pPr>
            <a:r>
              <a:rPr lang="en-US" sz="3600" b="1" dirty="0">
                <a:solidFill>
                  <a:srgbClr val="0000CC"/>
                </a:solidFill>
                <a:effectLst>
                  <a:outerShdw blurRad="38100" dist="38100" dir="2700000" algn="tl">
                    <a:srgbClr val="C0C0C0"/>
                  </a:outerShdw>
                </a:effectLst>
                <a:latin typeface="Tahoma" pitchFamily="34" charset="0"/>
                <a:ea typeface="Tahoma" pitchFamily="34" charset="0"/>
                <a:cs typeface="Tahoma" pitchFamily="34" charset="0"/>
              </a:rPr>
              <a:t>Restitution enables:</a:t>
            </a:r>
          </a:p>
          <a:p>
            <a:pPr marL="609600" indent="-609600" algn="l" eaLnBrk="1" fontAlgn="auto" hangingPunct="1">
              <a:spcAft>
                <a:spcPts val="0"/>
              </a:spcAft>
              <a:buFont typeface="Wingdings" panose="05000000000000000000" pitchFamily="2" charset="2"/>
              <a:buChar char="§"/>
              <a:defRPr/>
            </a:pPr>
            <a:r>
              <a:rPr lang="en-US" sz="3600" b="1" dirty="0">
                <a:solidFill>
                  <a:srgbClr val="0000CC"/>
                </a:solidFill>
                <a:effectLst>
                  <a:outerShdw blurRad="38100" dist="38100" dir="2700000" algn="tl">
                    <a:srgbClr val="C0C0C0"/>
                  </a:outerShdw>
                </a:effectLst>
                <a:latin typeface="Tahoma" pitchFamily="34" charset="0"/>
                <a:ea typeface="Tahoma" pitchFamily="34" charset="0"/>
                <a:cs typeface="Tahoma" pitchFamily="34" charset="0"/>
              </a:rPr>
              <a:t>forgiveness</a:t>
            </a:r>
          </a:p>
          <a:p>
            <a:pPr marL="609600" indent="-609600" algn="l" eaLnBrk="1" fontAlgn="auto" hangingPunct="1">
              <a:spcAft>
                <a:spcPts val="0"/>
              </a:spcAft>
              <a:buFont typeface="Wingdings" panose="05000000000000000000" pitchFamily="2" charset="2"/>
              <a:buChar char="§"/>
              <a:defRPr/>
            </a:pPr>
            <a:r>
              <a:rPr lang="en-US" sz="3600" b="1" dirty="0">
                <a:solidFill>
                  <a:srgbClr val="0000CC"/>
                </a:solidFill>
                <a:effectLst>
                  <a:outerShdw blurRad="38100" dist="38100" dir="2700000" algn="tl">
                    <a:srgbClr val="C0C0C0"/>
                  </a:outerShdw>
                </a:effectLst>
                <a:latin typeface="Tahoma" pitchFamily="34" charset="0"/>
                <a:ea typeface="Tahoma" pitchFamily="34" charset="0"/>
                <a:cs typeface="Tahoma" pitchFamily="34" charset="0"/>
              </a:rPr>
              <a:t>restores love and trust</a:t>
            </a:r>
          </a:p>
          <a:p>
            <a:pPr marL="609600" indent="-609600" algn="l" eaLnBrk="1" fontAlgn="auto" hangingPunct="1">
              <a:spcAft>
                <a:spcPts val="0"/>
              </a:spcAft>
              <a:buFont typeface="Wingdings" panose="05000000000000000000" pitchFamily="2" charset="2"/>
              <a:buChar char="§"/>
              <a:defRPr/>
            </a:pPr>
            <a:r>
              <a:rPr lang="en-US" sz="3600" b="1" dirty="0">
                <a:solidFill>
                  <a:srgbClr val="0000CC"/>
                </a:solidFill>
                <a:effectLst>
                  <a:outerShdw blurRad="38100" dist="38100" dir="2700000" algn="tl">
                    <a:srgbClr val="C0C0C0"/>
                  </a:outerShdw>
                </a:effectLst>
                <a:latin typeface="Tahoma" pitchFamily="34" charset="0"/>
                <a:ea typeface="Tahoma" pitchFamily="34" charset="0"/>
                <a:cs typeface="Tahoma" pitchFamily="34" charset="0"/>
              </a:rPr>
              <a:t>paves the way for healing to take place.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609600" y="0"/>
            <a:ext cx="8077200" cy="11430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34819" name="Rectangle 3"/>
          <p:cNvSpPr>
            <a:spLocks noGrp="1" noChangeArrowheads="1"/>
          </p:cNvSpPr>
          <p:nvPr>
            <p:ph type="subTitle" idx="1"/>
          </p:nvPr>
        </p:nvSpPr>
        <p:spPr>
          <a:xfrm>
            <a:off x="228600" y="1143000"/>
            <a:ext cx="8763000" cy="5486400"/>
          </a:xfrm>
        </p:spPr>
        <p:txBody>
          <a:bodyPr rtlCol="0">
            <a:normAutofit lnSpcReduction="10000"/>
          </a:bodyPr>
          <a:lstStyle/>
          <a:p>
            <a:pPr lvl="0" algn="l"/>
            <a:endParaRPr lang="en-US" sz="900" b="1" u="sng"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endParaRPr>
          </a:p>
          <a:p>
            <a:pPr lvl="0" algn="l"/>
            <a:r>
              <a:rPr lang="en-US" sz="4000" b="1" u="sng" dirty="0">
                <a:solidFill>
                  <a:srgbClr val="000066"/>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rPr>
              <a:t>For the offender</a:t>
            </a:r>
          </a:p>
          <a:p>
            <a:pPr lvl="0" algn="l"/>
            <a:endParaRPr lang="en-US" sz="900" b="1" u="sng" dirty="0">
              <a:solidFill>
                <a:srgbClr val="000066"/>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endParaRPr>
          </a:p>
          <a:p>
            <a:pPr lvl="0" algn="l"/>
            <a:r>
              <a:rPr lang="en-US" sz="3900" b="1" dirty="0">
                <a:solidFill>
                  <a:srgbClr val="0000CC"/>
                </a:solidFill>
                <a:latin typeface="Tahoma" panose="020B0604030504040204" pitchFamily="34" charset="0"/>
                <a:ea typeface="Tahoma" panose="020B0604030504040204" pitchFamily="34" charset="0"/>
                <a:cs typeface="Tahoma" panose="020B0604030504040204" pitchFamily="34" charset="0"/>
              </a:rPr>
              <a:t>Restitution helps: </a:t>
            </a:r>
            <a:endParaRPr lang="en-US" sz="3900" dirty="0">
              <a:solidFill>
                <a:srgbClr val="0000CC"/>
              </a:solidFill>
              <a:latin typeface="Tahoma" panose="020B0604030504040204" pitchFamily="34" charset="0"/>
              <a:ea typeface="Tahoma" panose="020B0604030504040204" pitchFamily="34" charset="0"/>
              <a:cs typeface="Tahoma" panose="020B0604030504040204" pitchFamily="34" charset="0"/>
            </a:endParaRPr>
          </a:p>
          <a:p>
            <a:pPr marL="457200" lvl="0" indent="-457200" algn="l">
              <a:buFont typeface="Wingdings" panose="05000000000000000000" pitchFamily="2" charset="2"/>
              <a:buChar char="§"/>
            </a:pPr>
            <a:r>
              <a:rPr lang="en-US" sz="3900" b="1" dirty="0">
                <a:solidFill>
                  <a:srgbClr val="0000CC"/>
                </a:solidFill>
                <a:latin typeface="Tahoma" panose="020B0604030504040204" pitchFamily="34" charset="0"/>
                <a:ea typeface="Tahoma" panose="020B0604030504040204" pitchFamily="34" charset="0"/>
                <a:cs typeface="Tahoma" panose="020B0604030504040204" pitchFamily="34" charset="0"/>
              </a:rPr>
              <a:t>to feel the pain of the damage caused</a:t>
            </a:r>
          </a:p>
          <a:p>
            <a:pPr marL="457200" lvl="0" indent="-457200" algn="l">
              <a:buFont typeface="Wingdings" panose="05000000000000000000" pitchFamily="2" charset="2"/>
              <a:buChar char="§"/>
            </a:pPr>
            <a:r>
              <a:rPr lang="en-US" sz="3900" b="1" dirty="0">
                <a:solidFill>
                  <a:srgbClr val="0000CC"/>
                </a:solidFill>
                <a:latin typeface="Tahoma" panose="020B0604030504040204" pitchFamily="34" charset="0"/>
                <a:ea typeface="Tahoma" panose="020B0604030504040204" pitchFamily="34" charset="0"/>
                <a:cs typeface="Tahoma" panose="020B0604030504040204" pitchFamily="34" charset="0"/>
              </a:rPr>
              <a:t>to bring to death sinful structures and habits</a:t>
            </a:r>
          </a:p>
          <a:p>
            <a:pPr marL="457200" lvl="0" indent="-457200" algn="l">
              <a:buFont typeface="Wingdings" panose="05000000000000000000" pitchFamily="2" charset="2"/>
              <a:buChar char="§"/>
            </a:pPr>
            <a:r>
              <a:rPr lang="en-US" sz="3900" b="1" dirty="0">
                <a:solidFill>
                  <a:srgbClr val="0000CC"/>
                </a:solidFill>
                <a:latin typeface="Tahoma" panose="020B0604030504040204" pitchFamily="34" charset="0"/>
                <a:ea typeface="Tahoma" panose="020B0604030504040204" pitchFamily="34" charset="0"/>
                <a:cs typeface="Tahoma" panose="020B0604030504040204" pitchFamily="34" charset="0"/>
              </a:rPr>
              <a:t>to write on the heart the price of our actions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533400" y="381000"/>
            <a:ext cx="8229600" cy="742950"/>
          </a:xfrm>
        </p:spPr>
        <p:txBody>
          <a:bodyPr rtlCol="0">
            <a:noAutofit/>
          </a:bodyPr>
          <a:lstStyle/>
          <a:p>
            <a:pPr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21507" name="Rectangle 3"/>
          <p:cNvSpPr>
            <a:spLocks noGrp="1" noChangeArrowheads="1"/>
          </p:cNvSpPr>
          <p:nvPr>
            <p:ph idx="1"/>
          </p:nvPr>
        </p:nvSpPr>
        <p:spPr>
          <a:xfrm>
            <a:off x="533400" y="1371600"/>
            <a:ext cx="8153400" cy="5334000"/>
          </a:xfrm>
        </p:spPr>
        <p:txBody>
          <a:bodyPr rtlCol="0">
            <a:normAutofit fontScale="85000" lnSpcReduction="20000"/>
          </a:bodyPr>
          <a:lstStyle/>
          <a:p>
            <a:pPr eaLnBrk="1" fontAlgn="auto" hangingPunct="1">
              <a:spcAft>
                <a:spcPts val="0"/>
              </a:spcAft>
              <a:buFontTx/>
              <a:buNone/>
              <a:defRPr/>
            </a:pPr>
            <a:r>
              <a:rPr lang="en-US" sz="3800" b="1" dirty="0">
                <a:solidFill>
                  <a:srgbClr val="000099"/>
                </a:solidFill>
                <a:latin typeface="Tahoma" pitchFamily="34" charset="0"/>
                <a:ea typeface="Tahoma" pitchFamily="34" charset="0"/>
                <a:cs typeface="Tahoma" pitchFamily="34" charset="0"/>
              </a:rPr>
              <a:t>Luke 19:8</a:t>
            </a:r>
          </a:p>
          <a:p>
            <a:pPr eaLnBrk="1" fontAlgn="auto" hangingPunct="1">
              <a:spcAft>
                <a:spcPts val="0"/>
              </a:spcAft>
              <a:buFontTx/>
              <a:buNone/>
              <a:defRPr/>
            </a:pPr>
            <a:r>
              <a:rPr lang="en-US" b="1" i="1" dirty="0">
                <a:solidFill>
                  <a:srgbClr val="990000"/>
                </a:solidFill>
              </a:rPr>
              <a:t>	</a:t>
            </a:r>
            <a:r>
              <a:rPr lang="en-US" sz="3800" b="1" i="1" dirty="0">
                <a:solidFill>
                  <a:srgbClr val="990000"/>
                </a:solidFill>
                <a:latin typeface="Constantia" pitchFamily="18" charset="0"/>
              </a:rPr>
              <a:t>“Behold, half of my possessions, Lord, I shall give to the poor; and if I have extorted anything from anyone, I shall repay it four times over.”</a:t>
            </a:r>
          </a:p>
          <a:p>
            <a:pPr eaLnBrk="1" fontAlgn="auto" hangingPunct="1">
              <a:spcAft>
                <a:spcPts val="0"/>
              </a:spcAft>
              <a:buFontTx/>
              <a:buNone/>
              <a:defRPr/>
            </a:pPr>
            <a:endParaRPr lang="en-US" b="1" i="1" dirty="0">
              <a:solidFill>
                <a:srgbClr val="990000"/>
              </a:solidFill>
            </a:endParaRPr>
          </a:p>
          <a:p>
            <a:pPr eaLnBrk="1" fontAlgn="auto" hangingPunct="1">
              <a:spcAft>
                <a:spcPts val="0"/>
              </a:spcAft>
              <a:buFontTx/>
              <a:buNone/>
              <a:defRPr/>
            </a:pPr>
            <a:r>
              <a:rPr lang="en-US" sz="3800" b="1" dirty="0">
                <a:solidFill>
                  <a:srgbClr val="000099"/>
                </a:solidFill>
                <a:latin typeface="Tahoma" pitchFamily="34" charset="0"/>
                <a:ea typeface="Tahoma" pitchFamily="34" charset="0"/>
                <a:cs typeface="Tahoma" pitchFamily="34" charset="0"/>
              </a:rPr>
              <a:t>Luke 19:9</a:t>
            </a:r>
          </a:p>
          <a:p>
            <a:pPr eaLnBrk="1" fontAlgn="auto" hangingPunct="1">
              <a:spcAft>
                <a:spcPts val="0"/>
              </a:spcAft>
              <a:buFontTx/>
              <a:buNone/>
              <a:defRPr/>
            </a:pPr>
            <a:r>
              <a:rPr lang="en-US" sz="2800" b="1" i="1" dirty="0">
                <a:solidFill>
                  <a:srgbClr val="990000"/>
                </a:solidFill>
              </a:rPr>
              <a:t>	</a:t>
            </a:r>
            <a:r>
              <a:rPr lang="en-US" sz="3500" b="1" i="1" dirty="0">
                <a:solidFill>
                  <a:srgbClr val="990000"/>
                </a:solidFill>
                <a:latin typeface="Constantia" pitchFamily="18" charset="0"/>
              </a:rPr>
              <a:t>“</a:t>
            </a:r>
            <a:r>
              <a:rPr lang="en-US" sz="3800" b="1" i="1" dirty="0">
                <a:solidFill>
                  <a:srgbClr val="990000"/>
                </a:solidFill>
                <a:latin typeface="Constantia" pitchFamily="18" charset="0"/>
              </a:rPr>
              <a:t>Today salvation has come to this house, because this man too is descendant of Abraham.  For the son of man has come to seek and to save what was lost.</a:t>
            </a:r>
          </a:p>
          <a:p>
            <a:pPr eaLnBrk="1" fontAlgn="auto" hangingPunct="1">
              <a:spcAft>
                <a:spcPts val="0"/>
              </a:spcAft>
              <a:buFontTx/>
              <a:buNone/>
              <a:defRPr/>
            </a:pPr>
            <a:endParaRPr lang="en-US" sz="3600" b="1" i="1" dirty="0">
              <a:solidFill>
                <a:srgbClr val="990000"/>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a:xfrm>
            <a:off x="609600" y="76200"/>
            <a:ext cx="8077200" cy="1066800"/>
          </a:xfrm>
        </p:spPr>
        <p:txBody>
          <a:bodyPr rtlCol="0">
            <a:norm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38915" name="Rectangle 3"/>
          <p:cNvSpPr>
            <a:spLocks noGrp="1" noChangeArrowheads="1"/>
          </p:cNvSpPr>
          <p:nvPr>
            <p:ph type="subTitle" idx="1"/>
          </p:nvPr>
        </p:nvSpPr>
        <p:spPr>
          <a:xfrm>
            <a:off x="152400" y="1066800"/>
            <a:ext cx="8915400" cy="5715000"/>
          </a:xfrm>
        </p:spPr>
        <p:txBody>
          <a:bodyPr rtlCol="0">
            <a:normAutofit fontScale="25000" lnSpcReduction="20000"/>
          </a:bodyPr>
          <a:lstStyle/>
          <a:p>
            <a:pPr marL="609600" indent="-609600" algn="l" eaLnBrk="1" fontAlgn="auto" hangingPunct="1">
              <a:spcAft>
                <a:spcPts val="0"/>
              </a:spcAft>
              <a:buFont typeface="Arial" pitchFamily="34" charset="0"/>
              <a:buNone/>
              <a:defRPr/>
            </a:pPr>
            <a:r>
              <a:rPr lang="en-US" sz="8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Closing Thought:</a:t>
            </a:r>
          </a:p>
          <a:p>
            <a:pPr marL="609600" indent="-609600" algn="l" eaLnBrk="1" fontAlgn="auto" hangingPunct="1">
              <a:spcAft>
                <a:spcPts val="0"/>
              </a:spcAft>
              <a:buFont typeface="Arial" pitchFamily="34" charset="0"/>
              <a:buNone/>
              <a:defRPr/>
            </a:pPr>
            <a:endParaRPr lang="en-US" sz="43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0" marR="0" algn="l">
              <a:spcBef>
                <a:spcPts val="0"/>
              </a:spcBef>
              <a:spcAft>
                <a:spcPts val="0"/>
              </a:spcAft>
            </a:pPr>
            <a:r>
              <a:rPr lang="en-US" sz="120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An important part of our faith and process of spiritual growth is to avail of confession to enable healing in our lives and in our relationships with others.   We must avail of this gift and make it part of our lives. </a:t>
            </a:r>
          </a:p>
          <a:p>
            <a:pPr marL="0" marR="0">
              <a:spcBef>
                <a:spcPts val="0"/>
              </a:spcBef>
              <a:spcAft>
                <a:spcPts val="0"/>
              </a:spcAft>
            </a:pPr>
            <a:r>
              <a:rPr lang="en-US" sz="120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l">
              <a:spcBef>
                <a:spcPts val="0"/>
              </a:spcBef>
              <a:spcAft>
                <a:spcPts val="0"/>
              </a:spcAft>
            </a:pPr>
            <a:r>
              <a:rPr lang="en-US" sz="120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Sometimes, however, we will not always be forgiven by those we have hurt.  If we have done everything to make amends, just remember that God has forgiven you, especially after Confession.</a:t>
            </a:r>
          </a:p>
          <a:p>
            <a:pPr marL="0" marR="0" algn="l">
              <a:spcBef>
                <a:spcPts val="0"/>
              </a:spcBef>
              <a:spcAft>
                <a:spcPts val="0"/>
              </a:spcAft>
            </a:pPr>
            <a:endParaRPr lang="en-US" sz="1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l">
              <a:spcBef>
                <a:spcPts val="0"/>
              </a:spcBef>
              <a:spcAft>
                <a:spcPts val="0"/>
              </a:spcAft>
            </a:pPr>
            <a:r>
              <a:rPr lang="en-US" sz="120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God grieves when we sin. Avail of the Sacrament of Reconciliation and make amends.   </a:t>
            </a:r>
            <a:endParaRPr lang="en-US" sz="1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609600" indent="-609600" algn="l" eaLnBrk="1" fontAlgn="auto" hangingPunct="1">
              <a:spcAft>
                <a:spcPts val="0"/>
              </a:spcAft>
              <a:buFont typeface="Arial" pitchFamily="34" charset="0"/>
              <a:buNone/>
              <a:defRPr/>
            </a:pPr>
            <a:endParaRPr lang="en-US" sz="120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Font typeface="Arial" pitchFamily="34" charset="0"/>
              <a:buNone/>
              <a:defRPr/>
            </a:pPr>
            <a:r>
              <a:rPr lang="en-US" sz="7200" b="1" dirty="0">
                <a:effectLst>
                  <a:outerShdw blurRad="38100" dist="38100" dir="2700000" algn="tl">
                    <a:srgbClr val="C0C0C0"/>
                  </a:outerShdw>
                </a:effectLst>
                <a:latin typeface="Tahoma" pitchFamily="34" charset="0"/>
                <a:ea typeface="Tahoma" pitchFamily="34" charset="0"/>
                <a:cs typeface="Tahoma" pitchFamily="34" charset="0"/>
              </a:rPr>
              <a:t>			</a:t>
            </a:r>
            <a:endParaRPr lang="en-US" sz="72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685800" y="1881188"/>
            <a:ext cx="7848600" cy="4402137"/>
          </a:xfrm>
          <a:prstGeom prst="rect">
            <a:avLst/>
          </a:prstGeom>
          <a:noFill/>
          <a:ln w="9525">
            <a:noFill/>
            <a:miter lim="800000"/>
            <a:headEnd/>
            <a:tailEnd/>
          </a:ln>
        </p:spPr>
        <p:txBody>
          <a:bodyPr anchor="ctr">
            <a:spAutoFit/>
          </a:bodyPr>
          <a:lstStyle/>
          <a:p>
            <a:pPr eaLnBrk="0" hangingPunct="0"/>
            <a:r>
              <a:rPr lang="en-US" sz="3600" b="1">
                <a:solidFill>
                  <a:srgbClr val="000099"/>
                </a:solidFill>
                <a:latin typeface="Times New Roman" pitchFamily="18" charset="0"/>
                <a:ea typeface="Calibri" pitchFamily="34" charset="0"/>
                <a:cs typeface="Times New Roman" pitchFamily="18" charset="0"/>
              </a:rPr>
              <a:t>2</a:t>
            </a:r>
            <a:r>
              <a:rPr lang="en-US" sz="3600" b="1" baseline="30000">
                <a:solidFill>
                  <a:srgbClr val="000099"/>
                </a:solidFill>
                <a:latin typeface="Times New Roman" pitchFamily="18" charset="0"/>
                <a:ea typeface="Calibri" pitchFamily="34" charset="0"/>
                <a:cs typeface="Times New Roman" pitchFamily="18" charset="0"/>
              </a:rPr>
              <a:t>nd</a:t>
            </a:r>
            <a:r>
              <a:rPr lang="en-US" sz="3600" b="1">
                <a:solidFill>
                  <a:srgbClr val="000099"/>
                </a:solidFill>
                <a:latin typeface="Times New Roman" pitchFamily="18" charset="0"/>
                <a:ea typeface="Calibri" pitchFamily="34" charset="0"/>
                <a:cs typeface="Times New Roman" pitchFamily="18" charset="0"/>
              </a:rPr>
              <a:t> Chronicles 7:14</a:t>
            </a:r>
          </a:p>
          <a:p>
            <a:pPr eaLnBrk="0" hangingPunct="0"/>
            <a:r>
              <a:rPr lang="en-US" sz="2800" b="1">
                <a:solidFill>
                  <a:srgbClr val="920000"/>
                </a:solidFill>
                <a:latin typeface="Times New Roman" pitchFamily="18" charset="0"/>
                <a:ea typeface="Calibri" pitchFamily="34" charset="0"/>
                <a:cs typeface="Times New Roman" pitchFamily="18" charset="0"/>
              </a:rPr>
              <a:t> </a:t>
            </a:r>
          </a:p>
          <a:p>
            <a:pPr eaLnBrk="0" hangingPunct="0"/>
            <a:r>
              <a:rPr lang="en-US" sz="2800" b="1">
                <a:solidFill>
                  <a:srgbClr val="920000"/>
                </a:solidFill>
                <a:latin typeface="Times New Roman" pitchFamily="18" charset="0"/>
                <a:ea typeface="Calibri" pitchFamily="34" charset="0"/>
                <a:cs typeface="Times New Roman" pitchFamily="18" charset="0"/>
              </a:rPr>
              <a:t> </a:t>
            </a:r>
            <a:r>
              <a:rPr lang="en-US" sz="3600" b="1">
                <a:solidFill>
                  <a:srgbClr val="990000"/>
                </a:solidFill>
                <a:latin typeface="Constantia" pitchFamily="18" charset="0"/>
                <a:ea typeface="Calibri" pitchFamily="34" charset="0"/>
                <a:cs typeface="Times New Roman" pitchFamily="18" charset="0"/>
              </a:rPr>
              <a:t>“</a:t>
            </a:r>
            <a:r>
              <a:rPr lang="en-US" sz="3600" b="1" i="1">
                <a:solidFill>
                  <a:srgbClr val="990000"/>
                </a:solidFill>
                <a:latin typeface="Constantia" pitchFamily="18" charset="0"/>
                <a:ea typeface="Calibri" pitchFamily="34" charset="0"/>
                <a:cs typeface="Times New Roman" pitchFamily="18" charset="0"/>
              </a:rPr>
              <a:t>If my people, who are called by my name, will humble themselves and pray, and seek my face and turn from their wicked ways, then I will hear them from heaven and forgive their sin and will heal their land.”</a:t>
            </a:r>
            <a:endParaRPr lang="en-US" sz="3600" i="1">
              <a:solidFill>
                <a:srgbClr val="990000"/>
              </a:solidFill>
              <a:latin typeface="Constantia" pitchFamily="18" charset="0"/>
              <a:ea typeface="Calibri" pitchFamily="34" charset="0"/>
              <a:cs typeface="Times New Roman" pitchFamily="18" charset="0"/>
            </a:endParaRPr>
          </a:p>
        </p:txBody>
      </p:sp>
      <p:sp>
        <p:nvSpPr>
          <p:cNvPr id="3" name="Rectangle 2"/>
          <p:cNvSpPr/>
          <p:nvPr/>
        </p:nvSpPr>
        <p:spPr>
          <a:xfrm>
            <a:off x="457200" y="609600"/>
            <a:ext cx="7964488" cy="708025"/>
          </a:xfrm>
          <a:prstGeom prst="rect">
            <a:avLst/>
          </a:prstGeom>
        </p:spPr>
        <p:txBody>
          <a:bodyPr wrap="none">
            <a:spAutoFit/>
          </a:bodyPr>
          <a:lstStyle/>
          <a:p>
            <a:pPr>
              <a:defRPr/>
            </a:pPr>
            <a:r>
              <a:rPr lang="en-US" sz="4000" b="1" u="sng"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685800" y="152400"/>
            <a:ext cx="8077200" cy="6858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51203" name="Rectangle 3"/>
          <p:cNvSpPr>
            <a:spLocks noGrp="1" noChangeArrowheads="1"/>
          </p:cNvSpPr>
          <p:nvPr>
            <p:ph type="subTitle" idx="1"/>
          </p:nvPr>
        </p:nvSpPr>
        <p:spPr>
          <a:xfrm>
            <a:off x="228600" y="914400"/>
            <a:ext cx="8686800" cy="5791200"/>
          </a:xfrm>
        </p:spPr>
        <p:txBody>
          <a:bodyPr rtlCol="0">
            <a:normAutofit fontScale="40000" lnSpcReduction="20000"/>
          </a:bodyPr>
          <a:lstStyle/>
          <a:p>
            <a:pPr marL="609600" indent="-609600" algn="l" eaLnBrk="1" fontAlgn="auto" hangingPunct="1">
              <a:spcAft>
                <a:spcPts val="0"/>
              </a:spcAft>
              <a:buFont typeface="Arial" pitchFamily="34" charset="0"/>
              <a:buNone/>
              <a:defRPr/>
            </a:pPr>
            <a:r>
              <a:rPr lang="en-US" sz="67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A prayer of repentance...</a:t>
            </a:r>
          </a:p>
          <a:p>
            <a:pPr marL="609600" indent="-609600" algn="l" eaLnBrk="1" fontAlgn="auto" hangingPunct="1">
              <a:spcAft>
                <a:spcPts val="0"/>
              </a:spcAft>
              <a:buFont typeface="Arial" pitchFamily="34" charset="0"/>
              <a:buNone/>
              <a:defRPr/>
            </a:pPr>
            <a:endParaRPr lang="en-US" sz="67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0" marR="0" algn="l">
              <a:spcBef>
                <a:spcPts val="0"/>
              </a:spcBef>
              <a:spcAft>
                <a:spcPts val="0"/>
              </a:spcAft>
            </a:pPr>
            <a:r>
              <a:rPr lang="en-US" sz="75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	</a:t>
            </a:r>
            <a:r>
              <a:rPr lang="en-US" sz="90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Lord Jesus, our Redeemer &amp; Healer of broken hearts, I come before your presence asking forgiveness for my sins.  My sin has created distance between us.  I have allowed arrogance and pride to rule my heart.  Most of all, I have grieved your heart and have also caused considerable pain and grief to another, which resulted to a broken trust and relationship.</a:t>
            </a:r>
          </a:p>
          <a:p>
            <a:pPr marL="0" marR="0" algn="l">
              <a:spcBef>
                <a:spcPts val="0"/>
              </a:spcBef>
              <a:spcAft>
                <a:spcPts val="0"/>
              </a:spcAft>
            </a:pPr>
            <a:endParaRPr lang="en-US" sz="75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l">
              <a:spcBef>
                <a:spcPts val="0"/>
              </a:spcBef>
              <a:spcAft>
                <a:spcPts val="0"/>
              </a:spcAft>
            </a:pPr>
            <a:r>
              <a:rPr lang="en-US" sz="2800" b="1" dirty="0">
                <a:effectLst>
                  <a:outerShdw blurRad="38100" dist="38100" dir="2700000" algn="tl">
                    <a:srgbClr val="C0C0C0"/>
                  </a:outerShdw>
                </a:effectLst>
                <a:latin typeface="Tahoma" pitchFamily="34" charset="0"/>
                <a:ea typeface="Tahoma" pitchFamily="34" charset="0"/>
                <a:cs typeface="Tahoma" pitchFamily="34" charset="0"/>
              </a:rPr>
              <a:t>	</a:t>
            </a:r>
            <a:endParaRPr lang="en-US"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ctrTitle"/>
          </p:nvPr>
        </p:nvSpPr>
        <p:spPr>
          <a:xfrm>
            <a:off x="762000" y="76200"/>
            <a:ext cx="8077200" cy="1143000"/>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53251" name="Rectangle 3"/>
          <p:cNvSpPr>
            <a:spLocks noGrp="1" noChangeArrowheads="1"/>
          </p:cNvSpPr>
          <p:nvPr>
            <p:ph type="subTitle" idx="1"/>
          </p:nvPr>
        </p:nvSpPr>
        <p:spPr>
          <a:xfrm>
            <a:off x="304800" y="1371600"/>
            <a:ext cx="8686800" cy="5410200"/>
          </a:xfrm>
        </p:spPr>
        <p:txBody>
          <a:bodyPr rtlCol="0">
            <a:normAutofit/>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A prayer of repentance...</a:t>
            </a:r>
          </a:p>
          <a:p>
            <a:pPr marL="0" marR="0" algn="l">
              <a:spcBef>
                <a:spcPts val="0"/>
              </a:spcBef>
              <a:spcAft>
                <a:spcPts val="0"/>
              </a:spcAft>
            </a:pPr>
            <a:r>
              <a:rPr lang="en-US" sz="2800" b="1" dirty="0">
                <a:effectLst>
                  <a:outerShdw blurRad="38100" dist="38100" dir="2700000" algn="tl">
                    <a:srgbClr val="C0C0C0"/>
                  </a:outerShdw>
                </a:effectLst>
                <a:latin typeface="Tahoma" pitchFamily="34" charset="0"/>
                <a:ea typeface="Tahoma" pitchFamily="34" charset="0"/>
                <a:cs typeface="Tahoma" pitchFamily="34" charset="0"/>
              </a:rPr>
              <a:t> 	</a:t>
            </a:r>
          </a:p>
          <a:p>
            <a:pPr marL="0" marR="0" algn="l">
              <a:spcBef>
                <a:spcPts val="0"/>
              </a:spcBef>
              <a:spcAft>
                <a:spcPts val="0"/>
              </a:spcAft>
            </a:pPr>
            <a:r>
              <a:rPr lang="en-US" sz="28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	</a:t>
            </a:r>
            <a:r>
              <a:rPr lang="en-US" sz="36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It hurts me to see the pain I have caused you and the person I have wounded. Through the powerful working of your grace, help me to initiate reparation and enable restoration of trust and healing in our relationships. </a:t>
            </a:r>
            <a:endParaRPr lang="en-US" sz="36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Font typeface="Arial" pitchFamily="34" charset="0"/>
              <a:buNone/>
              <a:defRPr/>
            </a:pPr>
            <a:endParaRPr lang="en-US" b="1" dirty="0">
              <a:effectLst>
                <a:outerShdw blurRad="38100" dist="38100" dir="2700000" algn="tl">
                  <a:srgbClr val="C0C0C0"/>
                </a:outerShdw>
              </a:effectLst>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838200" y="152399"/>
            <a:ext cx="8001000" cy="857655"/>
          </a:xfrm>
        </p:spPr>
        <p:txBody>
          <a:bodyPr rtlCol="0">
            <a:noAutofit/>
          </a:bodyPr>
          <a:lstStyle/>
          <a:p>
            <a:pPr algn="l" eaLnBrk="1" fontAlgn="auto" hangingPunct="1">
              <a:spcAft>
                <a:spcPts val="0"/>
              </a:spcAft>
              <a:defRPr/>
            </a:pPr>
            <a:r>
              <a:rPr lang="en-US" sz="4000" b="1" u="sng" dirty="0">
                <a:solidFill>
                  <a:srgbClr val="7030A0"/>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7030A0"/>
              </a:solidFill>
              <a:effectLst>
                <a:outerShdw blurRad="38100" dist="38100" dir="2700000" algn="tl">
                  <a:srgbClr val="C0C0C0"/>
                </a:outerShdw>
              </a:effectLst>
            </a:endParaRPr>
          </a:p>
        </p:txBody>
      </p:sp>
      <p:sp>
        <p:nvSpPr>
          <p:cNvPr id="55299" name="Rectangle 3"/>
          <p:cNvSpPr>
            <a:spLocks noGrp="1" noChangeArrowheads="1"/>
          </p:cNvSpPr>
          <p:nvPr>
            <p:ph type="subTitle" idx="1"/>
          </p:nvPr>
        </p:nvSpPr>
        <p:spPr>
          <a:xfrm>
            <a:off x="228600" y="990600"/>
            <a:ext cx="8763000" cy="5867400"/>
          </a:xfrm>
        </p:spPr>
        <p:txBody>
          <a:bodyPr rtlCol="0">
            <a:normAutofit fontScale="70000" lnSpcReduction="20000"/>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A prayer of repentance...</a:t>
            </a:r>
          </a:p>
          <a:p>
            <a:pPr marL="609600" indent="-609600" algn="l" eaLnBrk="1" fontAlgn="auto" hangingPunct="1">
              <a:spcAft>
                <a:spcPts val="0"/>
              </a:spcAft>
              <a:defRPr/>
            </a:pPr>
            <a:r>
              <a:rPr lang="en-US" sz="2800" b="1" dirty="0">
                <a:effectLst>
                  <a:outerShdw blurRad="38100" dist="38100" dir="2700000" algn="tl">
                    <a:srgbClr val="C0C0C0"/>
                  </a:outerShdw>
                </a:effectLst>
                <a:latin typeface="Tahoma" pitchFamily="34" charset="0"/>
                <a:ea typeface="Tahoma" pitchFamily="34" charset="0"/>
                <a:cs typeface="Tahoma" pitchFamily="34" charset="0"/>
              </a:rPr>
              <a:t> 	</a:t>
            </a:r>
            <a:r>
              <a:rPr lang="en-US" sz="46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Lord Jesus, bless the person(s) I have wounded.  Let your healing grace permeate his or her inner soul so that he/she may feel the comfort of your faithfulness and love. </a:t>
            </a:r>
          </a:p>
          <a:p>
            <a:pPr marL="609600" indent="-609600" algn="l" eaLnBrk="1" fontAlgn="auto" hangingPunct="1">
              <a:spcAft>
                <a:spcPts val="0"/>
              </a:spcAft>
              <a:defRPr/>
            </a:pPr>
            <a:endParaRPr lang="en-US" sz="46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endParaRPr>
          </a:p>
          <a:p>
            <a:pPr marL="609600" indent="-609600" algn="l" eaLnBrk="1" fontAlgn="auto" hangingPunct="1">
              <a:spcAft>
                <a:spcPts val="0"/>
              </a:spcAft>
              <a:defRPr/>
            </a:pPr>
            <a:r>
              <a:rPr lang="en-US" sz="4600"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		</a:t>
            </a:r>
            <a:r>
              <a:rPr lang="en-US" sz="4600" b="1" dirty="0">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I believe in your mighty works Lord Jesus for I know today is the beginning of restoration in all my relationships. Continue to redeem me in ways I never dreamed possible.  Amen </a:t>
            </a:r>
            <a:endParaRPr lang="en-US" sz="4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609600" indent="-609600" algn="l" eaLnBrk="1" fontAlgn="auto" hangingPunct="1">
              <a:spcAft>
                <a:spcPts val="0"/>
              </a:spcAft>
              <a:defRPr/>
            </a:pPr>
            <a:endParaRPr lang="en-US" sz="4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609600" indent="-609600" algn="l" eaLnBrk="1" fontAlgn="auto" hangingPunct="1">
              <a:spcAft>
                <a:spcPts val="0"/>
              </a:spcAft>
              <a:buFont typeface="Arial" pitchFamily="34" charset="0"/>
              <a:buNone/>
              <a:defRPr/>
            </a:pPr>
            <a:r>
              <a:rPr lang="en-US" sz="3600"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p:nvPr>
        </p:nvSpPr>
        <p:spPr>
          <a:xfrm>
            <a:off x="1066800" y="457200"/>
            <a:ext cx="7391400" cy="914400"/>
          </a:xfrm>
        </p:spPr>
        <p:txBody>
          <a:bodyPr rtlCol="0">
            <a:noAutofit/>
          </a:bodyPr>
          <a:lstStyle/>
          <a:p>
            <a:pPr algn="l" eaLnBrk="1" fontAlgn="auto" hangingPunct="1">
              <a:spcAft>
                <a:spcPts val="0"/>
              </a:spcAft>
              <a:defRPr/>
            </a:pPr>
            <a:endParaRPr lang="en-US" sz="4000" b="1" u="sng" dirty="0">
              <a:solidFill>
                <a:srgbClr val="660066"/>
              </a:solidFill>
              <a:effectLst>
                <a:outerShdw blurRad="38100" dist="38100" dir="2700000" algn="tl">
                  <a:srgbClr val="C0C0C0"/>
                </a:outerShdw>
              </a:effectLst>
            </a:endParaRPr>
          </a:p>
        </p:txBody>
      </p:sp>
      <p:sp>
        <p:nvSpPr>
          <p:cNvPr id="47107" name="Rectangle 3"/>
          <p:cNvSpPr>
            <a:spLocks noGrp="1" noChangeArrowheads="1"/>
          </p:cNvSpPr>
          <p:nvPr>
            <p:ph type="subTitle" idx="1"/>
          </p:nvPr>
        </p:nvSpPr>
        <p:spPr>
          <a:xfrm>
            <a:off x="685800" y="1524000"/>
            <a:ext cx="8153400" cy="5029200"/>
          </a:xfrm>
        </p:spPr>
        <p:txBody>
          <a:bodyPr rtlCol="0">
            <a:normAutofit/>
          </a:bodyPr>
          <a:lstStyle/>
          <a:p>
            <a:pPr marL="609600" indent="-609600" algn="l" eaLnBrk="1" fontAlgn="auto" hangingPunct="1">
              <a:spcAft>
                <a:spcPts val="0"/>
              </a:spcAft>
              <a:buFont typeface="Arial" pitchFamily="34" charset="0"/>
              <a:buNone/>
              <a:defRPr/>
            </a:pPr>
            <a:endParaRPr lang="en-US"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2BB6E-5B31-F2BD-6260-48F87F096A8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4BF5626F-B0FD-FB9D-0440-DA78936B0D9A}"/>
              </a:ext>
            </a:extLst>
          </p:cNvPr>
          <p:cNvSpPr>
            <a:spLocks noGrp="1" noChangeArrowheads="1"/>
          </p:cNvSpPr>
          <p:nvPr>
            <p:ph type="ctrTitle"/>
          </p:nvPr>
        </p:nvSpPr>
        <p:spPr>
          <a:xfrm>
            <a:off x="1066800" y="457200"/>
            <a:ext cx="7391400" cy="914400"/>
          </a:xfrm>
        </p:spPr>
        <p:txBody>
          <a:bodyPr rtlCol="0">
            <a:noAutofit/>
          </a:bodyPr>
          <a:lstStyle/>
          <a:p>
            <a:pPr algn="l" eaLnBrk="1" fontAlgn="auto" hangingPunct="1">
              <a:spcAft>
                <a:spcPts val="0"/>
              </a:spcAft>
              <a:defRPr/>
            </a:pPr>
            <a:endParaRPr lang="en-US" sz="4000" b="1" u="sng" dirty="0">
              <a:solidFill>
                <a:srgbClr val="660066"/>
              </a:solidFill>
              <a:effectLst>
                <a:outerShdw blurRad="38100" dist="38100" dir="2700000" algn="tl">
                  <a:srgbClr val="C0C0C0"/>
                </a:outerShdw>
              </a:effectLst>
            </a:endParaRPr>
          </a:p>
        </p:txBody>
      </p:sp>
      <p:sp>
        <p:nvSpPr>
          <p:cNvPr id="47107" name="Rectangle 3">
            <a:extLst>
              <a:ext uri="{FF2B5EF4-FFF2-40B4-BE49-F238E27FC236}">
                <a16:creationId xmlns:a16="http://schemas.microsoft.com/office/drawing/2014/main" id="{F5C658ED-85BF-6E44-D5C6-E4E004D68005}"/>
              </a:ext>
            </a:extLst>
          </p:cNvPr>
          <p:cNvSpPr>
            <a:spLocks noGrp="1" noChangeArrowheads="1"/>
          </p:cNvSpPr>
          <p:nvPr>
            <p:ph type="subTitle" idx="1"/>
          </p:nvPr>
        </p:nvSpPr>
        <p:spPr>
          <a:xfrm>
            <a:off x="685800" y="1524000"/>
            <a:ext cx="8153400" cy="5029200"/>
          </a:xfrm>
        </p:spPr>
        <p:txBody>
          <a:bodyPr rtlCol="0">
            <a:normAutofit/>
          </a:bodyPr>
          <a:lstStyle/>
          <a:p>
            <a:pPr marL="609600" indent="-609600" algn="l" eaLnBrk="1" fontAlgn="auto" hangingPunct="1">
              <a:spcAft>
                <a:spcPts val="0"/>
              </a:spcAft>
              <a:buFont typeface="Arial" pitchFamily="34" charset="0"/>
              <a:buNone/>
              <a:defRPr/>
            </a:pPr>
            <a:endParaRPr lang="en-US"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104811011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5EB71-C6FD-0E3A-DE42-C170DFE8E566}"/>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38E3D2B8-A87C-AD54-55C2-9A13F36EF0B1}"/>
              </a:ext>
            </a:extLst>
          </p:cNvPr>
          <p:cNvSpPr>
            <a:spLocks noGrp="1" noChangeArrowheads="1"/>
          </p:cNvSpPr>
          <p:nvPr>
            <p:ph type="ctrTitle"/>
          </p:nvPr>
        </p:nvSpPr>
        <p:spPr>
          <a:xfrm>
            <a:off x="533400" y="381000"/>
            <a:ext cx="8229600" cy="1143000"/>
          </a:xfrm>
        </p:spPr>
        <p:txBody>
          <a:bodyPr rtlCol="0">
            <a:noAutofit/>
          </a:bodyPr>
          <a:lstStyle/>
          <a:p>
            <a:pPr algn="l" eaLnBrk="1" fontAlgn="auto" hangingPunct="1">
              <a:spcAft>
                <a:spcPts val="0"/>
              </a:spcAft>
              <a:defRPr/>
            </a:pPr>
            <a:r>
              <a:rPr lang="en-US" sz="4000" b="1" u="sng"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660066"/>
              </a:solidFill>
              <a:effectLst>
                <a:outerShdw blurRad="38100" dist="38100" dir="2700000" algn="tl">
                  <a:srgbClr val="C0C0C0"/>
                </a:outerShdw>
              </a:effectLst>
            </a:endParaRPr>
          </a:p>
        </p:txBody>
      </p:sp>
      <p:sp>
        <p:nvSpPr>
          <p:cNvPr id="47107" name="Rectangle 3">
            <a:extLst>
              <a:ext uri="{FF2B5EF4-FFF2-40B4-BE49-F238E27FC236}">
                <a16:creationId xmlns:a16="http://schemas.microsoft.com/office/drawing/2014/main" id="{484A2829-6B5E-5251-F2C1-1D9550BC89E4}"/>
              </a:ext>
            </a:extLst>
          </p:cNvPr>
          <p:cNvSpPr>
            <a:spLocks noGrp="1" noChangeArrowheads="1"/>
          </p:cNvSpPr>
          <p:nvPr>
            <p:ph type="subTitle" idx="1"/>
          </p:nvPr>
        </p:nvSpPr>
        <p:spPr>
          <a:xfrm>
            <a:off x="685800" y="1524000"/>
            <a:ext cx="8153400" cy="5029200"/>
          </a:xfrm>
        </p:spPr>
        <p:txBody>
          <a:bodyPr rtlCol="0">
            <a:normAutofit/>
          </a:bodyPr>
          <a:lstStyle/>
          <a:p>
            <a:pPr marL="609600" indent="-609600" algn="l" eaLnBrk="1" fontAlgn="auto" hangingPunct="1">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References:</a:t>
            </a:r>
          </a:p>
          <a:p>
            <a:pPr marL="609600" indent="-609600" algn="l" eaLnBrk="1" fontAlgn="auto" hangingPunct="1">
              <a:spcAft>
                <a:spcPts val="0"/>
              </a:spcAft>
              <a:buFont typeface="Wingdings" pitchFamily="2" charset="2"/>
              <a:buChar char="q"/>
              <a:defRPr/>
            </a:pPr>
            <a:r>
              <a:rPr lang="en-US" sz="28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Elijah House Training for the Ministry of Prayer Counseling, Section 1</a:t>
            </a:r>
          </a:p>
          <a:p>
            <a:pPr marL="609600" indent="-609600" algn="l" eaLnBrk="1" fontAlgn="auto" hangingPunct="1">
              <a:spcAft>
                <a:spcPts val="0"/>
              </a:spcAft>
              <a:buFont typeface="Wingdings" pitchFamily="2" charset="2"/>
              <a:buChar char="q"/>
              <a:defRPr/>
            </a:pPr>
            <a:r>
              <a:rPr lang="en-US" sz="28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The Transformation of the Inner Man, Chapter 6 by John &amp; Paula </a:t>
            </a:r>
            <a:r>
              <a:rPr lang="en-US" sz="2800" b="1" dirty="0" err="1">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Sandford</a:t>
            </a:r>
            <a:endParaRPr lang="en-US" sz="28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spcAft>
                <a:spcPts val="0"/>
              </a:spcAft>
              <a:buFont typeface="Arial" pitchFamily="34" charset="0"/>
              <a:buNone/>
              <a:defRPr/>
            </a:pPr>
            <a:r>
              <a:rPr lang="en-US" sz="2800" b="1"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rPr>
              <a:t> </a:t>
            </a:r>
            <a:endParaRPr lang="en-US" b="1"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334847972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ctrTitle"/>
          </p:nvPr>
        </p:nvSpPr>
        <p:spPr>
          <a:xfrm>
            <a:off x="762000" y="304800"/>
            <a:ext cx="8077200" cy="990600"/>
          </a:xfrm>
        </p:spPr>
        <p:txBody>
          <a:bodyPr rtlCol="0">
            <a:noAutofit/>
          </a:bodyPr>
          <a:lstStyle/>
          <a:p>
            <a:pPr algn="l" eaLnBrk="1" fontAlgn="auto" hangingPunct="1">
              <a:spcAft>
                <a:spcPts val="0"/>
              </a:spcAft>
              <a:defRPr/>
            </a:pPr>
            <a:r>
              <a:rPr lang="en-US" sz="4000" b="1" u="sng" dirty="0">
                <a:solidFill>
                  <a:srgbClr val="000066"/>
                </a:solidFill>
                <a:effectLst>
                  <a:outerShdw blurRad="38100" dist="38100" dir="2700000" algn="tl">
                    <a:srgbClr val="C0C0C0"/>
                  </a:outerShdw>
                </a:effectLst>
                <a:latin typeface="Tahoma" pitchFamily="34" charset="0"/>
                <a:ea typeface="Tahoma" pitchFamily="34" charset="0"/>
                <a:cs typeface="Tahoma" pitchFamily="34" charset="0"/>
              </a:rPr>
              <a:t>REPENTANCE &amp; RESTITUTION</a:t>
            </a:r>
            <a:endParaRPr lang="en-US" sz="4000" b="1" u="sng" dirty="0">
              <a:solidFill>
                <a:srgbClr val="660066"/>
              </a:solidFill>
              <a:effectLst>
                <a:outerShdw blurRad="38100" dist="38100" dir="2700000" algn="tl">
                  <a:srgbClr val="C0C0C0"/>
                </a:outerShdw>
              </a:effectLst>
            </a:endParaRPr>
          </a:p>
        </p:txBody>
      </p:sp>
      <p:sp>
        <p:nvSpPr>
          <p:cNvPr id="59395" name="Rectangle 3"/>
          <p:cNvSpPr>
            <a:spLocks noGrp="1" noChangeArrowheads="1"/>
          </p:cNvSpPr>
          <p:nvPr>
            <p:ph type="subTitle" idx="1"/>
          </p:nvPr>
        </p:nvSpPr>
        <p:spPr>
          <a:xfrm>
            <a:off x="3124200" y="1600200"/>
            <a:ext cx="4038600" cy="5029200"/>
          </a:xfrm>
        </p:spPr>
        <p:txBody>
          <a:bodyPr rtlCol="0">
            <a:normAutofit/>
          </a:bodyPr>
          <a:lstStyle/>
          <a:p>
            <a:pPr marL="609600" indent="-609600" algn="l" eaLnBrk="1" fontAlgn="auto" hangingPunct="1">
              <a:lnSpc>
                <a:spcPct val="70000"/>
              </a:lnSpc>
              <a:spcAft>
                <a:spcPts val="0"/>
              </a:spcAft>
              <a:buFont typeface="Arial" pitchFamily="34" charset="0"/>
              <a:buNone/>
              <a:defRPr/>
            </a:pPr>
            <a:r>
              <a:rPr lang="en-US" sz="3600" b="1" dirty="0">
                <a:solidFill>
                  <a:srgbClr val="000099"/>
                </a:solidFill>
                <a:effectLst>
                  <a:outerShdw blurRad="38100" dist="38100" dir="2700000" algn="tl">
                    <a:srgbClr val="C0C0C0"/>
                  </a:outerShdw>
                </a:effectLst>
                <a:latin typeface="Tahoma" pitchFamily="34" charset="0"/>
                <a:ea typeface="Tahoma" pitchFamily="34" charset="0"/>
                <a:cs typeface="Tahoma" pitchFamily="34" charset="0"/>
              </a:rPr>
              <a:t>Scriptures</a:t>
            </a:r>
          </a:p>
          <a:p>
            <a:pPr marL="609600" indent="-609600" algn="l" eaLnBrk="1" fontAlgn="auto" hangingPunct="1">
              <a:lnSpc>
                <a:spcPct val="70000"/>
              </a:lnSpc>
              <a:spcAft>
                <a:spcPts val="0"/>
              </a:spcAft>
              <a:buFont typeface="Arial" pitchFamily="34" charset="0"/>
              <a:buNone/>
              <a:defRPr/>
            </a:pPr>
            <a:endParaRPr lang="en-US" sz="2800" b="1" dirty="0">
              <a:effectLst>
                <a:outerShdw blurRad="38100" dist="38100" dir="2700000" algn="tl">
                  <a:srgbClr val="C0C0C0"/>
                </a:outerShdw>
              </a:effectLst>
              <a:latin typeface="Tahoma" pitchFamily="34" charset="0"/>
              <a:ea typeface="Tahoma" pitchFamily="34" charset="0"/>
              <a:cs typeface="Tahoma" pitchFamily="34" charset="0"/>
            </a:endParaRPr>
          </a:p>
          <a:p>
            <a:pPr marL="609600" indent="-609600" algn="l" eaLnBrk="1" fontAlgn="auto" hangingPunct="1">
              <a:lnSpc>
                <a:spcPct val="70000"/>
              </a:lnSpc>
              <a:spcAft>
                <a:spcPts val="0"/>
              </a:spcAft>
              <a:buFont typeface="Arial" pitchFamily="34" charset="0"/>
              <a:buNone/>
              <a:defRPr/>
            </a:pPr>
            <a:r>
              <a:rPr lang="en-US" sz="2400" b="1" u="sng"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Old Testament</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Exodus 21:37, </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Leviticus 5:20-24</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Samuel 13: 8-14</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1  Samuel 15: 9</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2 Samuel 12:1-16</a:t>
            </a:r>
          </a:p>
          <a:p>
            <a:pPr marL="609600" indent="-609600" algn="l" eaLnBrk="1" fontAlgn="auto" hangingPunct="1">
              <a:lnSpc>
                <a:spcPct val="70000"/>
              </a:lnSpc>
              <a:spcAft>
                <a:spcPts val="0"/>
              </a:spcAft>
              <a:buFont typeface="Arial" pitchFamily="34" charset="0"/>
              <a:buNone/>
              <a:defRPr/>
            </a:pPr>
            <a:r>
              <a:rPr lang="en-US" sz="2400" b="1" dirty="0">
                <a:effectLst>
                  <a:outerShdw blurRad="38100" dist="38100" dir="2700000" algn="tl">
                    <a:srgbClr val="C0C0C0"/>
                  </a:outerShdw>
                </a:effectLst>
                <a:latin typeface="Tahoma" pitchFamily="34" charset="0"/>
                <a:ea typeface="Tahoma" pitchFamily="34" charset="0"/>
                <a:cs typeface="Tahoma" pitchFamily="34" charset="0"/>
              </a:rPr>
              <a:t> </a:t>
            </a:r>
          </a:p>
          <a:p>
            <a:pPr marL="609600" indent="-609600" algn="l" eaLnBrk="1" fontAlgn="auto" hangingPunct="1">
              <a:lnSpc>
                <a:spcPct val="70000"/>
              </a:lnSpc>
              <a:spcAft>
                <a:spcPts val="0"/>
              </a:spcAft>
              <a:buFont typeface="Arial" pitchFamily="34" charset="0"/>
              <a:buNone/>
              <a:defRPr/>
            </a:pPr>
            <a:r>
              <a:rPr lang="en-US" sz="2400" b="1" u="sng" dirty="0">
                <a:solidFill>
                  <a:schemeClr val="tx1"/>
                </a:solidFill>
                <a:effectLst>
                  <a:outerShdw blurRad="38100" dist="38100" dir="2700000" algn="tl">
                    <a:srgbClr val="C0C0C0"/>
                  </a:outerShdw>
                </a:effectLst>
                <a:latin typeface="Tahoma" pitchFamily="34" charset="0"/>
                <a:ea typeface="Tahoma" pitchFamily="34" charset="0"/>
                <a:cs typeface="Tahoma" pitchFamily="34" charset="0"/>
              </a:rPr>
              <a:t>New Testament</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Matthew 5:23-24</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Luke 19:1-10</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Romans 2:4</a:t>
            </a:r>
          </a:p>
          <a:p>
            <a:pPr marL="609600" indent="-609600" algn="l" eaLnBrk="1" fontAlgn="auto" hangingPunct="1">
              <a:lnSpc>
                <a:spcPct val="70000"/>
              </a:lnSpc>
              <a:spcAft>
                <a:spcPts val="0"/>
              </a:spcAft>
              <a:buFont typeface="Arial" pitchFamily="34" charset="0"/>
              <a:buNone/>
              <a:defRPr/>
            </a:pPr>
            <a:r>
              <a:rPr lang="en-US" sz="2400" b="1" dirty="0">
                <a:solidFill>
                  <a:srgbClr val="990000"/>
                </a:solidFill>
                <a:effectLst>
                  <a:outerShdw blurRad="38100" dist="38100" dir="2700000" algn="tl">
                    <a:srgbClr val="C0C0C0"/>
                  </a:outerShdw>
                </a:effectLst>
                <a:latin typeface="Tahoma" pitchFamily="34" charset="0"/>
                <a:ea typeface="Tahoma" pitchFamily="34" charset="0"/>
                <a:cs typeface="Tahoma" pitchFamily="34" charset="0"/>
              </a:rPr>
              <a:t>2 Corinthians 7:9-10</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2717</TotalTime>
  <Words>713</Words>
  <Application>Microsoft Office PowerPoint</Application>
  <PresentationFormat>On-screen Show (4:3)</PresentationFormat>
  <Paragraphs>186</Paragraphs>
  <Slides>27</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Arial Black</vt:lpstr>
      <vt:lpstr>Calibri</vt:lpstr>
      <vt:lpstr>Cambria</vt:lpstr>
      <vt:lpstr>Constantia</vt:lpstr>
      <vt:lpstr>Symbol</vt:lpstr>
      <vt:lpstr>Tahoma</vt:lpstr>
      <vt:lpstr>Times New Roman</vt:lpstr>
      <vt:lpstr>Wingdings</vt:lpstr>
      <vt:lpstr>Office Theme</vt:lpstr>
      <vt:lpstr>REPENTANCE AND RESTITUTION</vt:lpstr>
      <vt:lpstr>REPENTANCE AND RESTITUTION</vt:lpstr>
      <vt:lpstr>REPENTANCE &amp; RESTITUTION</vt:lpstr>
      <vt:lpstr>REPENTANCE &amp; RESTITUTION</vt:lpstr>
      <vt:lpstr>REPENTANCE &amp; RESTITUTION</vt:lpstr>
      <vt:lpstr>PowerPoint Presentation</vt:lpstr>
      <vt:lpstr>REPENTANCE &amp; RESTITUTION</vt:lpstr>
      <vt:lpstr>REPENTANCE &amp; RESTITUTION</vt:lpstr>
      <vt:lpstr>REPENTANCE &amp; RESTITUTION</vt:lpstr>
      <vt:lpstr>REPENTANCE &amp; RESTITUTION</vt:lpstr>
      <vt:lpstr>REPENTANCE &amp; RESTITUTION</vt:lpstr>
      <vt:lpstr>REPENTANCE &amp; RESTITUTION</vt:lpstr>
      <vt:lpstr>REPENTANCE &amp; RESTITUTION</vt:lpstr>
      <vt:lpstr>REPENTANCE &amp; RESTITUTION</vt:lpstr>
      <vt:lpstr>PowerPoint Presentation</vt:lpstr>
      <vt:lpstr>REPENTANCE &amp; RESTITUTION</vt:lpstr>
      <vt:lpstr>REPENTANCE &amp; RESTITUTION</vt:lpstr>
      <vt:lpstr>REPENTANCE &amp; RESTITUTION</vt:lpstr>
      <vt:lpstr>REPENTANCE &amp; RESTITUTION</vt:lpstr>
      <vt:lpstr>PowerPoint Presentation</vt:lpstr>
      <vt:lpstr>REPENTANCE &amp; RESTITUTION</vt:lpstr>
      <vt:lpstr>REPENTANCE &amp; RESTITUTION</vt:lpstr>
      <vt:lpstr>REPENTANCE &amp; RESTITUTION</vt:lpstr>
      <vt:lpstr>PowerPoint Presentation</vt:lpstr>
      <vt:lpstr>PowerPoint Presentation</vt:lpstr>
      <vt:lpstr>REPENTANCE &amp; RESTITUTION</vt:lpstr>
      <vt:lpstr>REPENTANCE &amp; RESTITUTION</vt:lpstr>
    </vt:vector>
  </TitlesOfParts>
  <Company>Noelette Tours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Trillana</dc:creator>
  <cp:lastModifiedBy>Acer Aspire 5</cp:lastModifiedBy>
  <cp:revision>149</cp:revision>
  <dcterms:created xsi:type="dcterms:W3CDTF">2008-05-18T04:08:20Z</dcterms:created>
  <dcterms:modified xsi:type="dcterms:W3CDTF">2026-03-04T09:21:17Z</dcterms:modified>
</cp:coreProperties>
</file>